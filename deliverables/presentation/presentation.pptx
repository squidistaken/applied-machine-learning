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Poppins"/>
      <p:regular r:id="rId34"/>
      <p:bold r:id="rId35"/>
      <p:italic r:id="rId36"/>
      <p:boldItalic r:id="rId37"/>
    </p:embeddedFont>
    <p:embeddedFont>
      <p:font typeface="Instrument Sans"/>
      <p:regular r:id="rId38"/>
      <p:bold r:id="rId39"/>
      <p:italic r:id="rId40"/>
      <p:boldItalic r:id="rId41"/>
    </p:embeddedFont>
    <p:embeddedFont>
      <p:font typeface="Poppins Medium"/>
      <p:regular r:id="rId42"/>
      <p:bold r:id="rId43"/>
      <p:italic r:id="rId44"/>
      <p:boldItalic r:id="rId45"/>
    </p:embeddedFont>
    <p:embeddedFont>
      <p:font typeface="Poppins SemiBold"/>
      <p:regular r:id="rId46"/>
      <p:bold r:id="rId47"/>
      <p:italic r:id="rId48"/>
      <p:boldItalic r:id="rId49"/>
    </p:embeddedFont>
    <p:embeddedFont>
      <p:font typeface="Comic Relief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686936-BF18-433C-BA6A-359ADBFF673B}">
  <a:tblStyle styleId="{84686936-BF18-433C-BA6A-359ADBFF67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strumentSans-italic.fntdata"/><Relationship Id="rId42" Type="http://schemas.openxmlformats.org/officeDocument/2006/relationships/font" Target="fonts/PoppinsMedium-regular.fntdata"/><Relationship Id="rId41" Type="http://schemas.openxmlformats.org/officeDocument/2006/relationships/font" Target="fonts/InstrumentSans-boldItalic.fntdata"/><Relationship Id="rId44" Type="http://schemas.openxmlformats.org/officeDocument/2006/relationships/font" Target="fonts/PoppinsMedium-italic.fntdata"/><Relationship Id="rId43" Type="http://schemas.openxmlformats.org/officeDocument/2006/relationships/font" Target="fonts/PoppinsMedium-bold.fntdata"/><Relationship Id="rId46" Type="http://schemas.openxmlformats.org/officeDocument/2006/relationships/font" Target="fonts/PoppinsSemiBold-regular.fntdata"/><Relationship Id="rId45" Type="http://schemas.openxmlformats.org/officeDocument/2006/relationships/font" Target="fonts/Poppi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oppinsSemiBold-italic.fntdata"/><Relationship Id="rId47" Type="http://schemas.openxmlformats.org/officeDocument/2006/relationships/font" Target="fonts/PoppinsSemiBold-bold.fntdata"/><Relationship Id="rId49" Type="http://schemas.openxmlformats.org/officeDocument/2006/relationships/font" Target="fonts/Poppi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InstrumentSans-bold.fntdata"/><Relationship Id="rId38" Type="http://schemas.openxmlformats.org/officeDocument/2006/relationships/font" Target="fonts/InstrumentSans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omicRelief-bold.fntdata"/><Relationship Id="rId50" Type="http://schemas.openxmlformats.org/officeDocument/2006/relationships/font" Target="fonts/ComicRelief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8aaa71b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e8aaa71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8aaa71b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e8aaa71b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Julian</a:t>
            </a:r>
            <a:br>
              <a:rPr lang="en"/>
            </a:br>
            <a:br>
              <a:rPr lang="en"/>
            </a:br>
            <a:r>
              <a:rPr lang="en"/>
              <a:t>1. </a:t>
            </a:r>
            <a:r>
              <a:rPr lang="en" sz="12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your model can be used to address a problem (introduction) Optionally: what you wanted to find out with your project </a:t>
            </a:r>
            <a:br>
              <a:rPr lang="en" sz="12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" sz="12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2. Why your project has novelty </a:t>
            </a:r>
            <a:endParaRPr sz="12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3. How you preprocessed your data Highlight: how you train/test/validate split </a:t>
            </a:r>
            <a:endParaRPr sz="12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4. Which model(s) you chose to implement a. Include hyperparameter tuning and regularization</a:t>
            </a:r>
            <a:endParaRPr sz="12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5. How your model(s) performed (results) a. Evaluate whether there is overfitting b. Use relevant metrics c. Compare your model against the baseline properly </a:t>
            </a:r>
            <a:endParaRPr sz="12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6. What you did to make your project professional </a:t>
            </a:r>
            <a:endParaRPr sz="12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7. Which extras you did that may boost your grade </a:t>
            </a:r>
            <a:endParaRPr sz="12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8. Insights you gained from the project as related to the problem at hand </a:t>
            </a:r>
            <a:endParaRPr sz="12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4095f886611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4095f886611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minute.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4095f886611_5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4095f886611_5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Annie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Pneumonia in children as global issue.</a:t>
            </a:r>
            <a:endParaRPr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Bacterial pneumonia / Viral pneumonia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a514d8f4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ea514d8f4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Julian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ea514d8f4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ea514d8f4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Julian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CNN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Baseline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Tuned Learning rate and weight decay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ResNet18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CNN with pre-trained weights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Tuned Learning rate and weight decay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LightGBM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Gradient boosting network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Tree based algorithms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-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Tuned Learning rate, number of leaves and max depth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4095f886611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4095f886611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2.5 minutes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ea514d8f4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ea514d8f4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Marcus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ea514d8f4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ea514d8f4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Annie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split (train/test):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●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Bounding Box Extraction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○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Extract Lung Region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●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Resizing Standardisation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●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Contrast Enhancement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○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Contrast Limited Adaptive Histogram Equalization (CLAHE)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●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Normalisation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●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augmentation applied while setting up dataset for training (training set (copy) only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○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Slight rotations, zooms, brightness/contrast shifts and shearing to add robustness and address class imbalance somewhat.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○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Unmodified training set used as validation set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a514d8f4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ea514d8f4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Annie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HOG = Histogram of Oriented Gradients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Requires pytorch pipeline (without normalisation and data augmentation) to run first </a:t>
            </a:r>
            <a:endParaRPr sz="1000" u="sng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split(train/test):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●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Resizing standardisation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○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Downsampling to reduce tabular dimensions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●"/>
            </a:pPr>
            <a:r>
              <a:rPr lang="en" sz="1000" u="sng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Normalised</a:t>
            </a: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pixel values projected into numpy array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●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Extract statistics and HOG features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○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HOG instead of pixels -&gt; reduced dimensionality &amp; captured structural textures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●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augmentation (training set only)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○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as for pytorch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541301"/>
              </a:buClr>
              <a:buSzPts val="1000"/>
              <a:buFont typeface="Instrument Sans"/>
              <a:buChar char="○"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copy, processed separately in the same way (as above) </a:t>
            </a: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prevent data leakage in  cross-validatio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a514d8f42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ea514d8f4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Marcus</a:t>
            </a:r>
            <a:endParaRPr sz="14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4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 set is split 80/20 train-validation -&gt; stratified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4095f886611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4095f886611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2.5 minutes.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a514d8f4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ea514d8f4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Julian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Dataset provided with train/test split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Stratified K-fold validation 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-&gt; 5-fold validation (80/20 train/val split) (random state of 42)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-&gt; grid search to exhaust possible hyper-parameters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54130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-&gt; unbalanced classes in training set</a:t>
            </a:r>
            <a:endParaRPr sz="1000">
              <a:solidFill>
                <a:srgbClr val="54130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short: grid search tunes three structurally different models reproducibly, and stratified 5-fold CV gives each candidate config a low-variance macro-F1 estimate that stays valid despite your class imbalance.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 f1 score used for multiclass classification.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conventional default-centered ranges (each grid is "below default / default / above default"), chosen to be wide enough to expose over- vs under-fitting without exploding the search. And they did their job: across the board, tuning selected the conservative, lower-capacity, more-regularized end of every range — exactly what you'd predict for a small, class-imbalanced medical 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4095f886611_5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4095f886611_5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Nacho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validation set, loss reported 0.899, macro-f1 score 0.642, precision 0.635, and recall 0.660. On the testing set, loss reported 0.958, macro-f1 score 0.660, precision 0.661, and recall 0.662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and validation loss stay relatively close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 limited.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4095f886611_5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4095f886611_5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Nacho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validation set, macro-f1 score reported 0.740, precision 0.756, and recall 0.737. On the testing set, macro-f1 score reported 0.770, precision 0.790, and recall 0.773.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 improvement over baseline CNN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 visible: early stopping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4095f886611_5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4095f886611_5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Nacho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validation set, loss reported 0.609, macro-f1 score 0.738, precision 0.732, and recall 0.757. On the testing set, loss reported 0.507, macro-f1 score 0.831, precision 0.833, and recall 0.829.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Lowest test loss: 0.507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learning improved performance compared to baseline CNN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4095f886611_5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4095f886611_5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Nacho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4095f88661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4095f88661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minute.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ea514d8f4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ea514d8f4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Nacho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ea514d8f42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ea514d8f42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Nacho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4095f886611_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4095f886611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minute.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4095f886611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4095f886611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hyperparameters.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F1/precision/recall say how accurate; Brier and NLL fold accuracy and confidence into one score; ECE isolates calibration; entropy is the per-prediction uncertainty signal; AURC (area under the risk-coverage curve) measures whether that signal is useful for abstaining. The first set is standard classification; the rest are the bonus UQ layer.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is the baseline — overconfident (T=0.40), AURC 4× worse; LightGBM &amp; ResNet tie on accuracy (~0.80).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LightGBM was already calibrated out of the box (T≈1.02) — temperature scaling barely moved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"The reliability diagram checks if the confidences are honest; the selective-prediction curve checks if they're useful — i.e. whether ranking by confidence actually lets us trade coverage for accuracy."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Points below the line mean overconfident — it claimed more certainty than it earned; above means underconfident. The number is ECE, the average distance from that diagonal, lower is better. The red line is the raw model, the green is after temperature scaling.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4095f886611_5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4095f886611_5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Julian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4095f886611_5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4095f886611_5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Nacho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Bacterial vs. viral pneumonia is the hard part; spotting "normal" is comparatively easy. (teammate's)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 model's errors cluster in the VIRUS↔BACTERIA cells. On VIRUS cases the best models still misroute ~30% to BACTERIA (ResNet: 46 of 148; LightGBM: 45 of 148), while NORMAL is recovered cleanly.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Frame the system as "pneumonia vs. healthy" first, fine-grained type second. (teammate's)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healthy/diseased boundary is reliable; the bacteria/virus split is where confidence drops — worth surfacing as two stages rather than one 3-way call.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Accuracy and calibration are not the same thing — the best model is the most overconfident. (new)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ResNet is most accurate but worst-calibrated (ECE 0.184, temperature 0.74 = not the best confidence); LightGBM is the most trustworthy out-of-the-box (ECE 0.032). Temperature scaling cuts ResNet's ECE to 0.119, and its low AURC (0.066) means deferring the least-confident cases to a radiologist sharply raises accuracy — useful for a clinical tool. The overfitting is the trade-off, but unfortunately our dataset is just too small.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4. VIRUS is the minority class and the bottleneck — it caps macro-F1. (new)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has the fewest test cases (~148 vs. ~240 BACTERIA / ~234 NORMAL) and the lowest per-class recall everywhere. Because macro-F1 weights classes equally, fixing VIRUS recall is the single biggest lever on the headline score — a case for targeted augmentation or class weighting.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5. We're data-limited, not capacity-limited. (new)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LightGBM's train loss falls to ~0.16 while eval plateaus near ~0.55 (early-stopped at epoch 79) — a wide generalization gap, and the from-scratch CNN never gets traction. The ceiling looks like data quantity/quality, so more or better-curated X-rays should pay off more than a bigger model.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4095f886611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4095f886611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minutes.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Marcus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ea514d8f4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ea514d8f4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minutes.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e8aaa71b34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e8aaa71b34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 amt="70000"/>
          </a:blip>
          <a:srcRect b="0" l="1313" r="0" t="0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grpSp>
        <p:nvGrpSpPr>
          <p:cNvPr id="17" name="Google Shape;17;p2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" name="Google Shape;29;p2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3"/>
          <p:cNvPicPr preferRelativeResize="0"/>
          <p:nvPr/>
        </p:nvPicPr>
        <p:blipFill rotWithShape="1">
          <a:blip r:embed="rId2">
            <a:alphaModFix/>
          </a:blip>
          <a:srcRect b="36188" l="0" r="0" t="0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1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33" name="Google Shape;33;p3"/>
          <p:cNvSpPr/>
          <p:nvPr>
            <p:ph idx="2" type="pic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3"/>
          <p:cNvSpPr txBox="1"/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37" name="Google Shape;37;p3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" name="Google Shape;38;p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" name="Google Shape;41;p3"/>
          <p:cNvSpPr txBox="1"/>
          <p:nvPr>
            <p:ph idx="1" type="subTitle"/>
          </p:nvPr>
        </p:nvSpPr>
        <p:spPr>
          <a:xfrm>
            <a:off x="128875" y="-450"/>
            <a:ext cx="3357900" cy="1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1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4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45" name="Google Shape;45;p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" name="Google Shape;46;p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14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50" name="Google Shape;50;p5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14_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/>
          <p:cNvPicPr preferRelativeResize="0"/>
          <p:nvPr/>
        </p:nvPicPr>
        <p:blipFill rotWithShape="1">
          <a:blip r:embed="rId2">
            <a:alphaModFix/>
          </a:blip>
          <a:srcRect b="36188" l="0" r="0" t="0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1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6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56" name="Google Shape;56;p6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57" name="Google Shape;57;p6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6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6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7"/>
          <p:cNvPicPr preferRelativeResize="0"/>
          <p:nvPr/>
        </p:nvPicPr>
        <p:blipFill rotWithShape="1">
          <a:blip r:embed="rId2">
            <a:alphaModFix/>
          </a:blip>
          <a:srcRect b="55478" l="0" r="16388" t="0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>
            <p:ph idx="2" type="pic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7"/>
          <p:cNvSpPr txBox="1"/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7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66" name="Google Shape;66;p7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7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7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BLANK_1_1_1_1_1_1_1_1_1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2" name="Google Shape;72;p8"/>
          <p:cNvSpPr/>
          <p:nvPr>
            <p:ph idx="2" type="pic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8"/>
          <p:cNvSpPr txBox="1"/>
          <p:nvPr>
            <p:ph idx="3" type="subTitle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76" name="Google Shape;76;p8"/>
          <p:cNvSpPr txBox="1"/>
          <p:nvPr>
            <p:ph idx="4" type="subTitle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77" name="Google Shape;77;p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8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2" type="title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3" type="title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3" name="Google Shape;83;p9"/>
          <p:cNvSpPr txBox="1"/>
          <p:nvPr>
            <p:ph idx="4" type="title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" name="Google Shape;84;p9"/>
          <p:cNvSpPr txBox="1"/>
          <p:nvPr>
            <p:ph idx="5" type="title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5" name="Google Shape;85;p9"/>
          <p:cNvSpPr txBox="1"/>
          <p:nvPr>
            <p:ph idx="1" type="subTitle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7" name="Google Shape;87;p9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88" name="Google Shape;88;p9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" name="Google Shape;89;p9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9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9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9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9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9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9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9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9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9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9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2" name="Google Shape;102;p9"/>
          <p:cNvSpPr txBox="1"/>
          <p:nvPr>
            <p:ph idx="6" type="subTitle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3" name="Google Shape;103;p9"/>
          <p:cNvSpPr txBox="1"/>
          <p:nvPr>
            <p:ph idx="7" type="subTitle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8" type="subTitle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5" name="Google Shape;105;p9"/>
          <p:cNvSpPr txBox="1"/>
          <p:nvPr>
            <p:ph idx="9" type="subTitle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6" name="Google Shape;106;p9"/>
          <p:cNvSpPr txBox="1"/>
          <p:nvPr>
            <p:ph idx="13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12" name="Google Shape;112;p1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0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0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18" name="Google Shape;118;p10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0"/>
          <p:cNvSpPr/>
          <p:nvPr>
            <p:ph idx="13" type="pic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/>
          <p:nvPr>
            <p:ph idx="2" type="pic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11"/>
          <p:cNvSpPr/>
          <p:nvPr>
            <p:ph idx="3" type="pic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1"/>
          <p:cNvSpPr/>
          <p:nvPr>
            <p:ph idx="4" type="pic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1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30" name="Google Shape;130;p1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1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1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1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4" name="Google Shape;134;p11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5" name="Google Shape;135;p11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6" name="Google Shape;136;p11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7" name="Google Shape;137;p11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8" name="Google Shape;138;p1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14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2"/>
          <p:cNvSpPr txBox="1"/>
          <p:nvPr>
            <p:ph idx="1" type="body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2" name="Google Shape;142;p12"/>
          <p:cNvSpPr txBox="1"/>
          <p:nvPr>
            <p:ph idx="2" type="body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3" name="Google Shape;143;p12"/>
          <p:cNvSpPr txBox="1"/>
          <p:nvPr>
            <p:ph idx="3" type="body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4" name="Google Shape;144;p12"/>
          <p:cNvSpPr txBox="1"/>
          <p:nvPr>
            <p:ph idx="4" type="body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5" name="Google Shape;145;p12"/>
          <p:cNvSpPr txBox="1"/>
          <p:nvPr>
            <p:ph idx="5" type="body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6" name="Google Shape;146;p12"/>
          <p:cNvSpPr txBox="1"/>
          <p:nvPr>
            <p:ph idx="6" type="body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7" name="Google Shape;147;p12"/>
          <p:cNvSpPr txBox="1"/>
          <p:nvPr>
            <p:ph idx="7" type="body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8" name="Google Shape;148;p12"/>
          <p:cNvSpPr txBox="1"/>
          <p:nvPr>
            <p:ph idx="8" type="body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49" name="Google Shape;149;p12"/>
          <p:cNvSpPr txBox="1"/>
          <p:nvPr>
            <p:ph idx="9" type="body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0" name="Google Shape;150;p1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2"/>
          <p:cNvSpPr txBox="1"/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52" name="Google Shape;152;p1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2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12"/>
          <p:cNvSpPr txBox="1"/>
          <p:nvPr>
            <p:ph idx="13" type="subTitle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5" name="Google Shape;155;p12"/>
          <p:cNvSpPr txBox="1"/>
          <p:nvPr>
            <p:ph idx="14" type="subTitle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6" name="Google Shape;156;p12"/>
          <p:cNvSpPr txBox="1"/>
          <p:nvPr>
            <p:ph idx="15" type="subTitle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">
  <p:cSld name="BLANK_1_1_1_1_1_1_1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9" name="Google Shape;159;p13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60" name="Google Shape;160;p13"/>
          <p:cNvSpPr txBox="1"/>
          <p:nvPr>
            <p:ph idx="3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1" name="Google Shape;161;p13"/>
          <p:cNvSpPr txBox="1"/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2" name="Google Shape;162;p13"/>
          <p:cNvSpPr txBox="1"/>
          <p:nvPr>
            <p:ph idx="4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3" name="Google Shape;163;p13"/>
          <p:cNvSpPr txBox="1"/>
          <p:nvPr>
            <p:ph idx="5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64" name="Google Shape;164;p1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5" name="Google Shape;165;p1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3"/>
          <p:cNvSpPr txBox="1"/>
          <p:nvPr>
            <p:ph idx="6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0" name="Google Shape;170;p14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1" name="Google Shape;171;p14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2" name="Google Shape;172;p14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3" name="Google Shape;173;p14"/>
          <p:cNvSpPr/>
          <p:nvPr>
            <p:ph idx="5" type="pic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14"/>
          <p:cNvSpPr/>
          <p:nvPr>
            <p:ph idx="6" type="pic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14"/>
          <p:cNvSpPr/>
          <p:nvPr>
            <p:ph idx="7" type="pic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14"/>
          <p:cNvSpPr txBox="1"/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7" name="Google Shape;177;p1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1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14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81" name="Google Shape;181;p14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2" name="Google Shape;182;p14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>
            <p:ph idx="1" type="body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6" name="Google Shape;186;p15"/>
          <p:cNvSpPr txBox="1"/>
          <p:nvPr>
            <p:ph idx="2" type="body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7" name="Google Shape;187;p15"/>
          <p:cNvSpPr txBox="1"/>
          <p:nvPr>
            <p:ph idx="3" type="body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8" name="Google Shape;188;p15"/>
          <p:cNvSpPr txBox="1"/>
          <p:nvPr>
            <p:ph idx="4" type="body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9" name="Google Shape;189;p15"/>
          <p:cNvSpPr txBox="1"/>
          <p:nvPr>
            <p:ph idx="5" type="body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0" name="Google Shape;190;p15"/>
          <p:cNvSpPr txBox="1"/>
          <p:nvPr>
            <p:ph idx="6" type="body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1" name="Google Shape;191;p15"/>
          <p:cNvSpPr/>
          <p:nvPr>
            <p:ph idx="7" type="pic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15"/>
          <p:cNvSpPr/>
          <p:nvPr>
            <p:ph idx="8" type="pic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5"/>
          <p:cNvSpPr/>
          <p:nvPr>
            <p:ph idx="9" type="pic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15"/>
          <p:cNvSpPr/>
          <p:nvPr>
            <p:ph idx="13" type="pic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15"/>
          <p:cNvSpPr/>
          <p:nvPr>
            <p:ph idx="14" type="pic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15"/>
          <p:cNvSpPr/>
          <p:nvPr>
            <p:ph idx="15" type="pic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1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15"/>
          <p:cNvSpPr txBox="1"/>
          <p:nvPr>
            <p:ph idx="16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15"/>
          <p:cNvSpPr txBox="1"/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0" name="Google Shape;200;p1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15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" name="Google Shape;204;p16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5" name="Google Shape;205;p16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16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7" name="Google Shape;207;p16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8" name="Google Shape;208;p16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16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16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16"/>
          <p:cNvSpPr/>
          <p:nvPr>
            <p:ph idx="9" type="pic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16"/>
          <p:cNvSpPr/>
          <p:nvPr>
            <p:ph idx="13" type="pic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16"/>
          <p:cNvSpPr/>
          <p:nvPr>
            <p:ph idx="14" type="pic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1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16"/>
          <p:cNvSpPr/>
          <p:nvPr>
            <p:ph idx="15" type="pic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16"/>
          <p:cNvSpPr txBox="1"/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7" name="Google Shape;217;p1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6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1" name="Google Shape;221;p17"/>
          <p:cNvSpPr txBox="1"/>
          <p:nvPr>
            <p:ph idx="2" type="title"/>
          </p:nvPr>
        </p:nvSpPr>
        <p:spPr>
          <a:xfrm>
            <a:off x="365098" y="267152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17"/>
          <p:cNvSpPr txBox="1"/>
          <p:nvPr>
            <p:ph idx="3" type="title"/>
          </p:nvPr>
        </p:nvSpPr>
        <p:spPr>
          <a:xfrm>
            <a:off x="365098" y="3313600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17"/>
          <p:cNvSpPr txBox="1"/>
          <p:nvPr>
            <p:ph idx="4" type="title"/>
          </p:nvPr>
        </p:nvSpPr>
        <p:spPr>
          <a:xfrm>
            <a:off x="365098" y="455747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17"/>
          <p:cNvSpPr txBox="1"/>
          <p:nvPr>
            <p:ph idx="5" type="title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17"/>
          <p:cNvSpPr txBox="1"/>
          <p:nvPr>
            <p:ph idx="6" type="title"/>
          </p:nvPr>
        </p:nvSpPr>
        <p:spPr>
          <a:xfrm>
            <a:off x="365098" y="392882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17"/>
          <p:cNvSpPr txBox="1"/>
          <p:nvPr>
            <p:ph idx="7" type="title"/>
          </p:nvPr>
        </p:nvSpPr>
        <p:spPr>
          <a:xfrm>
            <a:off x="365098" y="1408538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17"/>
          <p:cNvSpPr txBox="1"/>
          <p:nvPr>
            <p:ph idx="8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17"/>
          <p:cNvSpPr txBox="1"/>
          <p:nvPr>
            <p:ph idx="9" type="title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9" name="Google Shape;229;p17"/>
          <p:cNvSpPr txBox="1"/>
          <p:nvPr>
            <p:ph idx="13" type="title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0" name="Google Shape;230;p17"/>
          <p:cNvSpPr txBox="1"/>
          <p:nvPr>
            <p:ph idx="14" type="title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1" name="Google Shape;231;p17"/>
          <p:cNvSpPr txBox="1"/>
          <p:nvPr>
            <p:ph idx="15" type="title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2" name="Google Shape;232;p17"/>
          <p:cNvSpPr txBox="1"/>
          <p:nvPr>
            <p:ph idx="16" type="title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1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4" name="Google Shape;234;p1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17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18"/>
          <p:cNvSpPr txBox="1"/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p18"/>
          <p:cNvSpPr txBox="1"/>
          <p:nvPr>
            <p:ph idx="2" type="title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8"/>
          <p:cNvSpPr txBox="1"/>
          <p:nvPr>
            <p:ph idx="1" type="subTitle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2" name="Google Shape;242;p18"/>
          <p:cNvSpPr txBox="1"/>
          <p:nvPr>
            <p:ph idx="3" type="title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3" name="Google Shape;243;p18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1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18"/>
          <p:cNvSpPr/>
          <p:nvPr>
            <p:ph idx="4" type="pic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9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19"/>
          <p:cNvSpPr/>
          <p:nvPr>
            <p:ph idx="2" type="pic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19"/>
          <p:cNvSpPr/>
          <p:nvPr>
            <p:ph idx="3" type="pic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1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19"/>
          <p:cNvSpPr txBox="1"/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19"/>
          <p:cNvSpPr txBox="1"/>
          <p:nvPr>
            <p:ph idx="4"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253" name="Google Shape;253;p1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19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56" name="Google Shape;256;p19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tem comparison and image">
  <p:cSld name="CUSTOM_4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0" name="Google Shape;260;p20"/>
          <p:cNvSpPr txBox="1"/>
          <p:nvPr>
            <p:ph idx="2" type="subTitle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20"/>
          <p:cNvSpPr txBox="1"/>
          <p:nvPr>
            <p:ph idx="3" type="title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2" name="Google Shape;262;p20"/>
          <p:cNvSpPr txBox="1"/>
          <p:nvPr>
            <p:ph idx="4" type="subTitle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3" name="Google Shape;263;p20"/>
          <p:cNvSpPr txBox="1"/>
          <p:nvPr>
            <p:ph idx="5" type="title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4" name="Google Shape;264;p20"/>
          <p:cNvSpPr/>
          <p:nvPr>
            <p:ph idx="6" type="pic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2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20"/>
          <p:cNvSpPr txBox="1"/>
          <p:nvPr>
            <p:ph idx="7" type="subTitle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20"/>
          <p:cNvSpPr txBox="1"/>
          <p:nvPr>
            <p:ph idx="8" type="title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68" name="Google Shape;268;p20"/>
          <p:cNvSpPr txBox="1"/>
          <p:nvPr>
            <p:ph idx="9" type="subTitle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20"/>
          <p:cNvSpPr txBox="1"/>
          <p:nvPr>
            <p:ph idx="13" type="title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 1">
  <p:cSld name="CUSTOM_5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pic>
        <p:nvPicPr>
          <p:cNvPr id="272" name="Google Shape;272;p21"/>
          <p:cNvPicPr preferRelativeResize="0"/>
          <p:nvPr/>
        </p:nvPicPr>
        <p:blipFill rotWithShape="1">
          <a:blip r:embed="rId2">
            <a:alphaModFix/>
          </a:blip>
          <a:srcRect b="0" l="0" r="30109" t="73622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4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273" name="Google Shape;273;p2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1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1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6" name="Google Shape;276;p21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77" name="Google Shape;277;p21"/>
          <p:cNvSpPr/>
          <p:nvPr>
            <p:ph idx="4" type="pic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2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21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1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1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1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3" name="Google Shape;283;p21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4" name="Google Shape;284;p21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5" name="Google Shape;285;p21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_6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 txBox="1"/>
          <p:nvPr>
            <p:ph idx="1" type="subTitle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22"/>
          <p:cNvSpPr txBox="1"/>
          <p:nvPr>
            <p:ph idx="2" type="body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2"/>
          <p:cNvSpPr txBox="1"/>
          <p:nvPr>
            <p:ph idx="3" type="subTitle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2"/>
          <p:cNvSpPr txBox="1"/>
          <p:nvPr>
            <p:ph idx="4" type="body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2"/>
          <p:cNvSpPr txBox="1"/>
          <p:nvPr>
            <p:ph idx="5" type="subTitle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2" name="Google Shape;292;p22"/>
          <p:cNvSpPr txBox="1"/>
          <p:nvPr>
            <p:ph idx="6" type="body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2"/>
          <p:cNvSpPr txBox="1"/>
          <p:nvPr>
            <p:ph idx="7" type="subTitle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2"/>
          <p:cNvSpPr txBox="1"/>
          <p:nvPr>
            <p:ph idx="8" type="body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5" name="Google Shape;295;p2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22"/>
          <p:cNvSpPr/>
          <p:nvPr>
            <p:ph idx="9" type="pic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22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10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0" name="Google Shape;300;p23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1" name="Google Shape;301;p23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2" name="Google Shape;302;p23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3" name="Google Shape;303;p23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4" name="Google Shape;304;p23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5" name="Google Shape;305;p2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3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23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8" name="Google Shape;308;p23"/>
          <p:cNvSpPr/>
          <p:nvPr>
            <p:ph idx="8" type="pic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23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3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3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3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3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5" name="Google Shape;315;p23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6" name="Google Shape;316;p23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7" name="Google Shape;317;p23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 1">
  <p:cSld name="CUSTOM_1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 txBox="1"/>
          <p:nvPr>
            <p:ph idx="1" type="body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0" name="Google Shape;320;p2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24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22" name="Google Shape;322;p24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23" name="Google Shape;323;p24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2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24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24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24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24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2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0" name="Google Shape;330;p24"/>
          <p:cNvSpPr txBox="1"/>
          <p:nvPr>
            <p:ph idx="2" type="subTitle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1" name="Google Shape;331;p24"/>
          <p:cNvSpPr/>
          <p:nvPr>
            <p:ph idx="3" type="pic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24"/>
          <p:cNvSpPr/>
          <p:nvPr>
            <p:ph idx="4" type="pic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5"/>
          <p:cNvSpPr txBox="1"/>
          <p:nvPr>
            <p:ph idx="1" type="subTitle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25"/>
          <p:cNvSpPr txBox="1"/>
          <p:nvPr>
            <p:ph idx="2" type="subTitle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25"/>
          <p:cNvSpPr txBox="1"/>
          <p:nvPr>
            <p:ph idx="3" type="subTitle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25"/>
          <p:cNvSpPr txBox="1"/>
          <p:nvPr>
            <p:ph idx="4" type="subTitle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25"/>
          <p:cNvSpPr txBox="1"/>
          <p:nvPr>
            <p:ph idx="5" type="subTitle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25"/>
          <p:cNvSpPr txBox="1"/>
          <p:nvPr>
            <p:ph idx="6" type="subTitle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41" name="Google Shape;341;p25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5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5"/>
          <p:cNvSpPr txBox="1"/>
          <p:nvPr>
            <p:ph idx="7" type="subTitle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25"/>
          <p:cNvSpPr txBox="1"/>
          <p:nvPr>
            <p:ph idx="8" type="subTitle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5" name="Google Shape;345;p2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25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7" name="Google Shape;347;p25"/>
          <p:cNvSpPr txBox="1"/>
          <p:nvPr>
            <p:ph idx="9" type="subTitle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25"/>
          <p:cNvSpPr txBox="1"/>
          <p:nvPr>
            <p:ph idx="13" type="subTitle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25"/>
          <p:cNvSpPr txBox="1"/>
          <p:nvPr>
            <p:ph idx="14" type="subTitle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25"/>
          <p:cNvSpPr txBox="1"/>
          <p:nvPr>
            <p:ph idx="15" type="subTitle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3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/>
          <p:nvPr>
            <p:ph idx="2" type="pic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26"/>
          <p:cNvSpPr/>
          <p:nvPr>
            <p:ph idx="3" type="pic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2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26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26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26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26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4" type="title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1" name="Google Shape;361;p26"/>
          <p:cNvSpPr txBox="1"/>
          <p:nvPr>
            <p:ph idx="5" type="title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2" name="Google Shape;362;p26"/>
          <p:cNvSpPr txBox="1"/>
          <p:nvPr>
            <p:ph idx="6" type="title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26"/>
          <p:cNvSpPr txBox="1"/>
          <p:nvPr>
            <p:ph idx="7" type="title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8" type="title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idx="9" type="title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7"/>
          <p:cNvPicPr preferRelativeResize="0"/>
          <p:nvPr/>
        </p:nvPicPr>
        <p:blipFill rotWithShape="1">
          <a:blip r:embed="rId2">
            <a:alphaModFix/>
          </a:blip>
          <a:srcRect b="13329" l="0" r="0" t="10503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solid green color" id="368" name="Google Shape;368;p27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descr="A solid blue color" id="369" name="Google Shape;369;p27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2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27"/>
          <p:cNvSpPr txBox="1"/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3" type="pic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75" name="Google Shape;375;p27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376" name="Google Shape;376;p27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27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27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27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27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27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27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27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27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27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2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8"/>
          <p:cNvPicPr preferRelativeResize="0"/>
          <p:nvPr/>
        </p:nvPicPr>
        <p:blipFill rotWithShape="1">
          <a:blip r:embed="rId2">
            <a:alphaModFix/>
          </a:blip>
          <a:srcRect b="0" l="-14116" r="0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8"/>
          <p:cNvSpPr/>
          <p:nvPr>
            <p:ph idx="2" type="pic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28"/>
          <p:cNvSpPr/>
          <p:nvPr>
            <p:ph idx="3" type="pic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28"/>
          <p:cNvSpPr txBox="1"/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91" name="Google Shape;391;p28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392" name="Google Shape;392;p28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28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28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28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28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28"/>
            <p:cNvCxnSpPr>
              <a:endCxn id="398" idx="3"/>
            </p:cNvCxnSpPr>
            <p:nvPr/>
          </p:nvCxnSpPr>
          <p:spPr>
            <a:xfrm flipH="1" rot="10800000">
              <a:off x="3953100" y="1284725"/>
              <a:ext cx="37968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28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28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28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30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BLANK_1_1_1_1_1_1_1_2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29"/>
          <p:cNvPicPr preferRelativeResize="0"/>
          <p:nvPr/>
        </p:nvPicPr>
        <p:blipFill rotWithShape="1">
          <a:blip r:embed="rId2">
            <a:alphaModFix/>
          </a:blip>
          <a:srcRect b="0" l="1088" r="0" t="0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9"/>
          <p:cNvSpPr txBox="1"/>
          <p:nvPr>
            <p:ph idx="1" type="subTitle"/>
          </p:nvPr>
        </p:nvSpPr>
        <p:spPr>
          <a:xfrm>
            <a:off x="128875" y="-450"/>
            <a:ext cx="2541000" cy="1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29"/>
          <p:cNvSpPr/>
          <p:nvPr>
            <p:ph idx="2" type="pic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29"/>
          <p:cNvSpPr/>
          <p:nvPr>
            <p:ph idx="3" type="pic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09" name="Google Shape;409;p29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10" name="Google Shape;410;p29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29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29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29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29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29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29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2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2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29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22" name="Google Shape;422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7" name="Google Shape;42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0" name="Google Shape;430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1" name="Google Shape;431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6" name="Google Shape;436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41" name="Google Shape;441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2" name="Google Shape;442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47" name="Google Shape;447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6" name="Google Shape;456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9" name="Google Shape;459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0" name="Google Shape;460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3" name="Google Shape;463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6" name="Google Shape;466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9" name="Google Shape;469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0" name="Google Shape;470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71" name="Google Shape;471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4" name="Google Shape;474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8" name="Google Shape;478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9" name="Google Shape;479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0" name="Google Shape;480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81" name="Google Shape;481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3" name="Google Shape;483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4" name="Google Shape;484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7" name="Google Shape;487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0" name="Google Shape;490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3" name="Google Shape;49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4" name="Google Shape;494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8" name="Google Shape;498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1" name="Google Shape;501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3" name="Google Shape;50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4" name="Google Shape;504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6" name="Google Shape;506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7" name="Google Shape;517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2" type="body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4.jp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39.png"/><Relationship Id="rId5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36.png"/><Relationship Id="rId8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drive.google.com/file/d/17OCJt-JSKI_CycbRUvcCV4LF2Ph3mcUA/view" TargetMode="External"/><Relationship Id="rId4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 with a glass balcony and a tree in the background" id="524" name="Google Shape;524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89" l="14915" r="35763" t="23110"/>
          <a:stretch/>
        </p:blipFill>
        <p:spPr>
          <a:xfrm>
            <a:off x="6487225" y="2586525"/>
            <a:ext cx="1259100" cy="1268999"/>
          </a:xfrm>
          <a:prstGeom prst="rect">
            <a:avLst/>
          </a:prstGeom>
        </p:spPr>
      </p:pic>
      <p:sp>
        <p:nvSpPr>
          <p:cNvPr id="525" name="Google Shape;525;p51"/>
          <p:cNvSpPr txBox="1"/>
          <p:nvPr>
            <p:ph type="title"/>
          </p:nvPr>
        </p:nvSpPr>
        <p:spPr>
          <a:xfrm>
            <a:off x="128875" y="1291375"/>
            <a:ext cx="6341400" cy="1885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lt2"/>
                </a:solidFill>
              </a:rPr>
              <a:t>Applied Machine Learning</a:t>
            </a:r>
            <a:endParaRPr b="1" sz="3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Pneumonia Classification on Children’s Chest X-Ray Images</a:t>
            </a:r>
            <a:endParaRPr b="1" sz="3000"/>
          </a:p>
        </p:txBody>
      </p:sp>
      <p:sp>
        <p:nvSpPr>
          <p:cNvPr id="526" name="Google Shape;526;p5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-up of a rock" id="527" name="Google Shape;527;p51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035" r="17041" t="0"/>
          <a:stretch/>
        </p:blipFill>
        <p:spPr>
          <a:xfrm>
            <a:off x="7757975" y="3866750"/>
            <a:ext cx="1259700" cy="1279200"/>
          </a:xfrm>
          <a:prstGeom prst="rect">
            <a:avLst/>
          </a:prstGeom>
        </p:spPr>
      </p:pic>
      <p:pic>
        <p:nvPicPr>
          <p:cNvPr id="528" name="Google Shape;52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7225" y="2591475"/>
            <a:ext cx="1259100" cy="12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7975" y="3877525"/>
            <a:ext cx="1259700" cy="12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1"/>
          <p:cNvSpPr txBox="1"/>
          <p:nvPr>
            <p:ph type="title"/>
          </p:nvPr>
        </p:nvSpPr>
        <p:spPr>
          <a:xfrm>
            <a:off x="128875" y="3176875"/>
            <a:ext cx="6341400" cy="1213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Anneke Catherine Naseef		</a:t>
            </a:r>
            <a:r>
              <a:rPr lang="en" sz="1500">
                <a:solidFill>
                  <a:schemeClr val="accent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S6490662</a:t>
            </a:r>
            <a:endParaRPr sz="1500">
              <a:solidFill>
                <a:schemeClr val="accent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Marcus Harald Olof Persson		</a:t>
            </a:r>
            <a:r>
              <a:rPr lang="en" sz="1500">
                <a:solidFill>
                  <a:schemeClr val="accent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S5343798</a:t>
            </a:r>
            <a:endParaRPr sz="1500">
              <a:solidFill>
                <a:schemeClr val="accent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Ignacio Jacob Uroz Rodríguez		</a:t>
            </a:r>
            <a:r>
              <a:rPr lang="en" sz="1500">
                <a:solidFill>
                  <a:schemeClr val="accent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S5118913</a:t>
            </a:r>
            <a:endParaRPr sz="1500">
              <a:solidFill>
                <a:schemeClr val="accent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Julian Wilbert Sprietsma			</a:t>
            </a:r>
            <a:r>
              <a:rPr lang="en" sz="1500">
                <a:solidFill>
                  <a:schemeClr val="accent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S5096219</a:t>
            </a:r>
            <a:endParaRPr sz="1500">
              <a:solidFill>
                <a:schemeClr val="accent6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2"/>
          <p:cNvSpPr txBox="1"/>
          <p:nvPr/>
        </p:nvSpPr>
        <p:spPr>
          <a:xfrm>
            <a:off x="3940150" y="2579575"/>
            <a:ext cx="359400" cy="35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1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6" name="Google Shape;536;p52"/>
          <p:cNvSpPr txBox="1"/>
          <p:nvPr/>
        </p:nvSpPr>
        <p:spPr>
          <a:xfrm>
            <a:off x="1403750" y="2585875"/>
            <a:ext cx="359400" cy="35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7" name="Google Shape;537;p52"/>
          <p:cNvSpPr txBox="1"/>
          <p:nvPr/>
        </p:nvSpPr>
        <p:spPr>
          <a:xfrm>
            <a:off x="6486175" y="2582725"/>
            <a:ext cx="359400" cy="35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1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52"/>
          <p:cNvSpPr txBox="1"/>
          <p:nvPr/>
        </p:nvSpPr>
        <p:spPr>
          <a:xfrm>
            <a:off x="1403291" y="3342225"/>
            <a:ext cx="350100" cy="357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1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9" name="Google Shape;539;p52"/>
          <p:cNvSpPr txBox="1"/>
          <p:nvPr/>
        </p:nvSpPr>
        <p:spPr>
          <a:xfrm>
            <a:off x="3940151" y="3342222"/>
            <a:ext cx="359400" cy="35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sz="1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5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1" name="Google Shape;541;p52"/>
          <p:cNvSpPr txBox="1"/>
          <p:nvPr>
            <p:ph idx="1" type="subTitle"/>
          </p:nvPr>
        </p:nvSpPr>
        <p:spPr>
          <a:xfrm>
            <a:off x="1763150" y="25795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Introduction</a:t>
            </a:r>
            <a:endParaRPr b="1"/>
          </a:p>
        </p:txBody>
      </p:sp>
      <p:sp>
        <p:nvSpPr>
          <p:cNvPr id="542" name="Google Shape;542;p52"/>
          <p:cNvSpPr txBox="1"/>
          <p:nvPr>
            <p:ph idx="13" type="title"/>
          </p:nvPr>
        </p:nvSpPr>
        <p:spPr>
          <a:xfrm>
            <a:off x="133375" y="236850"/>
            <a:ext cx="5078700" cy="498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Agenda</a:t>
            </a:r>
            <a:endParaRPr b="1"/>
          </a:p>
        </p:txBody>
      </p:sp>
      <p:sp>
        <p:nvSpPr>
          <p:cNvPr id="543" name="Google Shape;543;p52"/>
          <p:cNvSpPr txBox="1"/>
          <p:nvPr>
            <p:ph idx="6" type="subTitle"/>
          </p:nvPr>
        </p:nvSpPr>
        <p:spPr>
          <a:xfrm>
            <a:off x="4300108" y="2579457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Preprocessing</a:t>
            </a:r>
            <a:endParaRPr b="1"/>
          </a:p>
        </p:txBody>
      </p:sp>
      <p:sp>
        <p:nvSpPr>
          <p:cNvPr id="544" name="Google Shape;544;p52"/>
          <p:cNvSpPr txBox="1"/>
          <p:nvPr>
            <p:ph idx="7" type="subTitle"/>
          </p:nvPr>
        </p:nvSpPr>
        <p:spPr>
          <a:xfrm>
            <a:off x="4300096" y="33663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Extras and Insights</a:t>
            </a:r>
            <a:endParaRPr b="1"/>
          </a:p>
        </p:txBody>
      </p:sp>
      <p:sp>
        <p:nvSpPr>
          <p:cNvPr id="545" name="Google Shape;545;p52"/>
          <p:cNvSpPr txBox="1"/>
          <p:nvPr>
            <p:ph idx="8" type="subTitle"/>
          </p:nvPr>
        </p:nvSpPr>
        <p:spPr>
          <a:xfrm>
            <a:off x="1755456" y="33663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</a:t>
            </a:r>
            <a:r>
              <a:rPr b="1" lang="en"/>
              <a:t>rofessionalism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52"/>
          <p:cNvSpPr txBox="1"/>
          <p:nvPr>
            <p:ph idx="9" type="subTitle"/>
          </p:nvPr>
        </p:nvSpPr>
        <p:spPr>
          <a:xfrm>
            <a:off x="6849200" y="260372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Training &amp; Results </a:t>
            </a:r>
            <a:endParaRPr b="1"/>
          </a:p>
        </p:txBody>
      </p:sp>
      <p:sp>
        <p:nvSpPr>
          <p:cNvPr id="547" name="Google Shape;547;p52"/>
          <p:cNvSpPr txBox="1"/>
          <p:nvPr/>
        </p:nvSpPr>
        <p:spPr>
          <a:xfrm>
            <a:off x="6486301" y="3342222"/>
            <a:ext cx="359400" cy="357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sz="1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8" name="Google Shape;548;p52"/>
          <p:cNvSpPr txBox="1"/>
          <p:nvPr>
            <p:ph idx="7" type="subTitle"/>
          </p:nvPr>
        </p:nvSpPr>
        <p:spPr>
          <a:xfrm>
            <a:off x="6846246" y="33663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Demo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3"/>
          <p:cNvSpPr txBox="1"/>
          <p:nvPr>
            <p:ph type="title"/>
          </p:nvPr>
        </p:nvSpPr>
        <p:spPr>
          <a:xfrm>
            <a:off x="490250" y="450150"/>
            <a:ext cx="6367800" cy="8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Introduction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4"/>
          <p:cNvSpPr txBox="1"/>
          <p:nvPr>
            <p:ph type="title"/>
          </p:nvPr>
        </p:nvSpPr>
        <p:spPr>
          <a:xfrm>
            <a:off x="365098" y="204287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</a:t>
            </a:r>
            <a:endParaRPr b="1"/>
          </a:p>
        </p:txBody>
      </p:sp>
      <p:sp>
        <p:nvSpPr>
          <p:cNvPr id="559" name="Google Shape;559;p54"/>
          <p:cNvSpPr txBox="1"/>
          <p:nvPr>
            <p:ph idx="2" type="title"/>
          </p:nvPr>
        </p:nvSpPr>
        <p:spPr>
          <a:xfrm>
            <a:off x="365098" y="267152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</a:t>
            </a:r>
            <a:endParaRPr b="1"/>
          </a:p>
        </p:txBody>
      </p:sp>
      <p:sp>
        <p:nvSpPr>
          <p:cNvPr id="560" name="Google Shape;560;p54"/>
          <p:cNvSpPr txBox="1"/>
          <p:nvPr>
            <p:ph idx="3" type="title"/>
          </p:nvPr>
        </p:nvSpPr>
        <p:spPr>
          <a:xfrm>
            <a:off x="365098" y="3313600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</a:t>
            </a:r>
            <a:endParaRPr b="1"/>
          </a:p>
        </p:txBody>
      </p:sp>
      <p:sp>
        <p:nvSpPr>
          <p:cNvPr id="561" name="Google Shape;561;p54"/>
          <p:cNvSpPr txBox="1"/>
          <p:nvPr>
            <p:ph idx="5" type="title"/>
          </p:nvPr>
        </p:nvSpPr>
        <p:spPr>
          <a:xfrm>
            <a:off x="1483100" y="2692075"/>
            <a:ext cx="72180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X-ray is inputted into application.</a:t>
            </a:r>
            <a:endParaRPr/>
          </a:p>
        </p:txBody>
      </p:sp>
      <p:sp>
        <p:nvSpPr>
          <p:cNvPr id="562" name="Google Shape;562;p54"/>
          <p:cNvSpPr txBox="1"/>
          <p:nvPr>
            <p:ph idx="6" type="title"/>
          </p:nvPr>
        </p:nvSpPr>
        <p:spPr>
          <a:xfrm>
            <a:off x="365098" y="392882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5</a:t>
            </a:r>
            <a:endParaRPr b="1"/>
          </a:p>
        </p:txBody>
      </p:sp>
      <p:sp>
        <p:nvSpPr>
          <p:cNvPr id="563" name="Google Shape;563;p54"/>
          <p:cNvSpPr txBox="1"/>
          <p:nvPr>
            <p:ph idx="7" type="title"/>
          </p:nvPr>
        </p:nvSpPr>
        <p:spPr>
          <a:xfrm>
            <a:off x="365098" y="1408538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</a:t>
            </a:r>
            <a:endParaRPr b="1"/>
          </a:p>
        </p:txBody>
      </p:sp>
      <p:sp>
        <p:nvSpPr>
          <p:cNvPr id="564" name="Google Shape;564;p54"/>
          <p:cNvSpPr txBox="1"/>
          <p:nvPr>
            <p:ph idx="8" type="title"/>
          </p:nvPr>
        </p:nvSpPr>
        <p:spPr>
          <a:xfrm>
            <a:off x="133375" y="236850"/>
            <a:ext cx="5078700" cy="498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Context</a:t>
            </a:r>
            <a:endParaRPr b="1"/>
          </a:p>
        </p:txBody>
      </p:sp>
      <p:sp>
        <p:nvSpPr>
          <p:cNvPr id="565" name="Google Shape;565;p54"/>
          <p:cNvSpPr txBox="1"/>
          <p:nvPr>
            <p:ph idx="9" type="title"/>
          </p:nvPr>
        </p:nvSpPr>
        <p:spPr>
          <a:xfrm>
            <a:off x="1483100" y="1429100"/>
            <a:ext cx="72180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presents (pneumonia) symptoms.</a:t>
            </a:r>
            <a:endParaRPr/>
          </a:p>
        </p:txBody>
      </p:sp>
      <p:sp>
        <p:nvSpPr>
          <p:cNvPr id="566" name="Google Shape;566;p54"/>
          <p:cNvSpPr txBox="1"/>
          <p:nvPr>
            <p:ph idx="13" type="title"/>
          </p:nvPr>
        </p:nvSpPr>
        <p:spPr>
          <a:xfrm>
            <a:off x="1483100" y="2063425"/>
            <a:ext cx="72180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Physician takes x-ray.</a:t>
            </a:r>
            <a:endParaRPr/>
          </a:p>
        </p:txBody>
      </p:sp>
      <p:sp>
        <p:nvSpPr>
          <p:cNvPr id="567" name="Google Shape;567;p54"/>
          <p:cNvSpPr txBox="1"/>
          <p:nvPr>
            <p:ph idx="14" type="title"/>
          </p:nvPr>
        </p:nvSpPr>
        <p:spPr>
          <a:xfrm>
            <a:off x="1483100" y="3320725"/>
            <a:ext cx="72180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</a:t>
            </a:r>
            <a:r>
              <a:rPr lang="en"/>
              <a:t> outputs diagnosis/confidence measure.</a:t>
            </a:r>
            <a:endParaRPr/>
          </a:p>
        </p:txBody>
      </p:sp>
      <p:sp>
        <p:nvSpPr>
          <p:cNvPr id="568" name="Google Shape;568;p54"/>
          <p:cNvSpPr txBox="1"/>
          <p:nvPr>
            <p:ph idx="15" type="title"/>
          </p:nvPr>
        </p:nvSpPr>
        <p:spPr>
          <a:xfrm>
            <a:off x="1483100" y="3949375"/>
            <a:ext cx="72180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used in diagnostics.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4. Attacking Imbalance</a:t>
            </a:r>
            <a:endParaRPr b="1"/>
          </a:p>
        </p:txBody>
      </p:sp>
      <p:sp>
        <p:nvSpPr>
          <p:cNvPr id="574" name="Google Shape;574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 Exploring Condensation</a:t>
            </a:r>
            <a:endParaRPr b="1"/>
          </a:p>
        </p:txBody>
      </p:sp>
      <p:sp>
        <p:nvSpPr>
          <p:cNvPr id="575" name="Google Shape;575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3. Cheaper Applications</a:t>
            </a:r>
            <a:endParaRPr b="1"/>
          </a:p>
        </p:txBody>
      </p:sp>
      <p:sp>
        <p:nvSpPr>
          <p:cNvPr id="576" name="Google Shape;576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From Binary to Distinction</a:t>
            </a:r>
            <a:endParaRPr b="1"/>
          </a:p>
        </p:txBody>
      </p:sp>
      <p:sp>
        <p:nvSpPr>
          <p:cNvPr id="577" name="Google Shape;577;p55"/>
          <p:cNvSpPr txBox="1"/>
          <p:nvPr>
            <p:ph type="title"/>
          </p:nvPr>
        </p:nvSpPr>
        <p:spPr>
          <a:xfrm>
            <a:off x="366750" y="450025"/>
            <a:ext cx="8184600" cy="6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Novelty</a:t>
            </a:r>
            <a:endParaRPr b="1"/>
          </a:p>
        </p:txBody>
      </p:sp>
      <p:sp>
        <p:nvSpPr>
          <p:cNvPr id="578" name="Google Shape;578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Typically, yes/no pneumonia.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Distinguishing bacterial and viral </a:t>
            </a:r>
            <a:r>
              <a:rPr lang="en"/>
              <a:t>pneumonia</a:t>
            </a:r>
            <a:r>
              <a:rPr lang="en"/>
              <a:t> overlap allows for proper treatment.</a:t>
            </a:r>
            <a:endParaRPr/>
          </a:p>
        </p:txBody>
      </p:sp>
      <p:sp>
        <p:nvSpPr>
          <p:cNvPr id="579" name="Google Shape;579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we achieve as good of a performance with a smaller model?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 just train on raw images, but on image data.</a:t>
            </a:r>
            <a:endParaRPr/>
          </a:p>
        </p:txBody>
      </p:sp>
      <p:sp>
        <p:nvSpPr>
          <p:cNvPr id="580" name="Google Shape;580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Child p</a:t>
            </a:r>
            <a:r>
              <a:rPr lang="en"/>
              <a:t>neumonia</a:t>
            </a:r>
            <a:r>
              <a:rPr lang="en"/>
              <a:t> mortality is highest in low-resource areas.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cheaper solution that solves the same problem is beneficial.</a:t>
            </a:r>
            <a:endParaRPr/>
          </a:p>
        </p:txBody>
      </p:sp>
      <p:sp>
        <p:nvSpPr>
          <p:cNvPr id="581" name="Google Shape;581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Bacterial pneumonia dominates our dataset.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Augmentation and class weights allows for generalisation without new data.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Pretrained ResNet-18</a:t>
            </a:r>
            <a:endParaRPr b="1"/>
          </a:p>
        </p:txBody>
      </p:sp>
      <p:sp>
        <p:nvSpPr>
          <p:cNvPr id="587" name="Google Shape;587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What?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Gradient-boosted decision tree model.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Why?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Explore if a fast, classical method can rival deep learning.</a:t>
            </a:r>
            <a:endParaRPr sz="1600"/>
          </a:p>
        </p:txBody>
      </p:sp>
      <p:sp>
        <p:nvSpPr>
          <p:cNvPr id="588" name="Google Shape;588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What?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2 Convolution, 1 Fully Connected.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Why?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Serve as a </a:t>
            </a:r>
            <a:r>
              <a:rPr lang="en" sz="1600"/>
              <a:t>baseline</a:t>
            </a:r>
            <a:r>
              <a:rPr lang="en" sz="1600"/>
              <a:t> to measure to compare performance of models.</a:t>
            </a:r>
            <a:endParaRPr sz="1600"/>
          </a:p>
        </p:txBody>
      </p:sp>
      <p:sp>
        <p:nvSpPr>
          <p:cNvPr id="589" name="Google Shape;589;p56"/>
          <p:cNvSpPr txBox="1"/>
          <p:nvPr>
            <p:ph type="title"/>
          </p:nvPr>
        </p:nvSpPr>
        <p:spPr>
          <a:xfrm>
            <a:off x="483175" y="450025"/>
            <a:ext cx="8184600" cy="6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Chosen Models</a:t>
            </a:r>
            <a:endParaRPr b="1"/>
          </a:p>
        </p:txBody>
      </p:sp>
      <p:sp>
        <p:nvSpPr>
          <p:cNvPr id="590" name="Google Shape;59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Baseline 3-layer CNN</a:t>
            </a:r>
            <a:endParaRPr b="1"/>
          </a:p>
        </p:txBody>
      </p:sp>
      <p:sp>
        <p:nvSpPr>
          <p:cNvPr id="591" name="Google Shape;59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LightGBM as an Alternative</a:t>
            </a:r>
            <a:endParaRPr b="1"/>
          </a:p>
        </p:txBody>
      </p:sp>
      <p:sp>
        <p:nvSpPr>
          <p:cNvPr id="592" name="Google Shape;592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What?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Training on a new layer and classifier head.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Why?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Leverage transfer learning from strong pretrained features.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7"/>
          <p:cNvSpPr txBox="1"/>
          <p:nvPr>
            <p:ph type="title"/>
          </p:nvPr>
        </p:nvSpPr>
        <p:spPr>
          <a:xfrm>
            <a:off x="490250" y="450150"/>
            <a:ext cx="6367800" cy="8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Preprocessing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8"/>
          <p:cNvSpPr txBox="1"/>
          <p:nvPr>
            <p:ph type="title"/>
          </p:nvPr>
        </p:nvSpPr>
        <p:spPr>
          <a:xfrm>
            <a:off x="311700" y="445025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Beautiful. Raw. Messy.</a:t>
            </a:r>
            <a:endParaRPr b="1"/>
          </a:p>
        </p:txBody>
      </p:sp>
      <p:grpSp>
        <p:nvGrpSpPr>
          <p:cNvPr id="603" name="Google Shape;603;p58"/>
          <p:cNvGrpSpPr/>
          <p:nvPr/>
        </p:nvGrpSpPr>
        <p:grpSpPr>
          <a:xfrm>
            <a:off x="214669" y="1205538"/>
            <a:ext cx="8714674" cy="3291859"/>
            <a:chOff x="214669" y="1162838"/>
            <a:chExt cx="8714674" cy="3291859"/>
          </a:xfrm>
        </p:grpSpPr>
        <p:grpSp>
          <p:nvGrpSpPr>
            <p:cNvPr id="604" name="Google Shape;604;p58"/>
            <p:cNvGrpSpPr/>
            <p:nvPr/>
          </p:nvGrpSpPr>
          <p:grpSpPr>
            <a:xfrm>
              <a:off x="1329156" y="1162838"/>
              <a:ext cx="6485701" cy="1645933"/>
              <a:chOff x="1770281" y="1171438"/>
              <a:chExt cx="6485701" cy="1645933"/>
            </a:xfrm>
          </p:grpSpPr>
          <p:pic>
            <p:nvPicPr>
              <p:cNvPr id="605" name="Google Shape;605;p5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770281" y="1171438"/>
                <a:ext cx="3944187" cy="16459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6" name="Google Shape;606;p5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716850" y="1171450"/>
                <a:ext cx="2539132" cy="16459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07" name="Google Shape;607;p58"/>
            <p:cNvGrpSpPr/>
            <p:nvPr/>
          </p:nvGrpSpPr>
          <p:grpSpPr>
            <a:xfrm>
              <a:off x="214669" y="2808775"/>
              <a:ext cx="8714674" cy="1645921"/>
              <a:chOff x="655807" y="2817375"/>
              <a:chExt cx="8714674" cy="1645921"/>
            </a:xfrm>
          </p:grpSpPr>
          <p:pic>
            <p:nvPicPr>
              <p:cNvPr id="608" name="Google Shape;608;p5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55807" y="2817375"/>
                <a:ext cx="3061412" cy="16459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9" name="Google Shape;609;p5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717225" y="2817375"/>
                <a:ext cx="2584095" cy="16459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0" name="Google Shape;610;p58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301325" y="2817376"/>
                <a:ext cx="3069155" cy="16459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What? </a:t>
            </a:r>
            <a:r>
              <a:rPr lang="en"/>
              <a:t>Contour mapping to isolate the lungs.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Why?</a:t>
            </a:r>
            <a:r>
              <a:rPr lang="en"/>
              <a:t> Remove </a:t>
            </a:r>
            <a:r>
              <a:rPr lang="en"/>
              <a:t>irrelevant</a:t>
            </a:r>
            <a:r>
              <a:rPr lang="en"/>
              <a:t> borders and background for model focus.</a:t>
            </a:r>
            <a:endParaRPr/>
          </a:p>
        </p:txBody>
      </p:sp>
      <p:sp>
        <p:nvSpPr>
          <p:cNvPr id="616" name="Google Shape;616;p5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What? </a:t>
            </a:r>
            <a:r>
              <a:rPr lang="en"/>
              <a:t>Rescale images to a fixed size.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Why?</a:t>
            </a:r>
            <a:r>
              <a:rPr lang="en"/>
              <a:t> Address inconsistent dimensions, and requirement for uniform input in batching.</a:t>
            </a:r>
            <a:endParaRPr/>
          </a:p>
        </p:txBody>
      </p:sp>
      <p:sp>
        <p:nvSpPr>
          <p:cNvPr id="617" name="Google Shape;617;p5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Lung Region Extraction</a:t>
            </a:r>
            <a:endParaRPr b="1"/>
          </a:p>
        </p:txBody>
      </p:sp>
      <p:sp>
        <p:nvSpPr>
          <p:cNvPr id="618" name="Google Shape;618;p5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4. Normalisation</a:t>
            </a:r>
            <a:endParaRPr b="1"/>
          </a:p>
        </p:txBody>
      </p:sp>
      <p:sp>
        <p:nvSpPr>
          <p:cNvPr id="619" name="Google Shape;619;p5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 Resize Standardisation</a:t>
            </a:r>
            <a:endParaRPr b="1"/>
          </a:p>
        </p:txBody>
      </p:sp>
      <p:sp>
        <p:nvSpPr>
          <p:cNvPr id="620" name="Google Shape;620;p5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What?</a:t>
            </a:r>
            <a:r>
              <a:rPr lang="en"/>
              <a:t> CLAHE to apply adaptive histogram equalisation.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Why?</a:t>
            </a:r>
            <a:r>
              <a:rPr lang="en"/>
              <a:t> Normalise brightness/contrast differences from different X-rays.</a:t>
            </a:r>
            <a:endParaRPr/>
          </a:p>
        </p:txBody>
      </p:sp>
      <p:sp>
        <p:nvSpPr>
          <p:cNvPr id="621" name="Google Shape;621;p5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What?</a:t>
            </a:r>
            <a:r>
              <a:rPr lang="en"/>
              <a:t> Scale pixel values to a consistent range.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Why?</a:t>
            </a:r>
            <a:r>
              <a:rPr lang="en"/>
              <a:t> </a:t>
            </a:r>
            <a:r>
              <a:rPr lang="en"/>
              <a:t>Stabilization</a:t>
            </a:r>
            <a:r>
              <a:rPr lang="en"/>
              <a:t> and training speedup.</a:t>
            </a:r>
            <a:endParaRPr/>
          </a:p>
        </p:txBody>
      </p:sp>
      <p:sp>
        <p:nvSpPr>
          <p:cNvPr id="622" name="Google Shape;622;p5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3. Contrast Enhancement</a:t>
            </a:r>
            <a:endParaRPr b="1"/>
          </a:p>
        </p:txBody>
      </p:sp>
      <p:sp>
        <p:nvSpPr>
          <p:cNvPr id="623" name="Google Shape;623;p59"/>
          <p:cNvSpPr txBox="1"/>
          <p:nvPr>
            <p:ph type="title"/>
          </p:nvPr>
        </p:nvSpPr>
        <p:spPr>
          <a:xfrm>
            <a:off x="366750" y="450025"/>
            <a:ext cx="8184600" cy="6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PyTorch</a:t>
            </a:r>
            <a:r>
              <a:rPr b="1" lang="en"/>
              <a:t> Pipeline…</a:t>
            </a:r>
            <a:endParaRPr b="1" baseline="-25000"/>
          </a:p>
        </p:txBody>
      </p:sp>
      <p:cxnSp>
        <p:nvCxnSpPr>
          <p:cNvPr id="624" name="Google Shape;624;p59"/>
          <p:cNvCxnSpPr>
            <a:stCxn id="615" idx="3"/>
            <a:endCxn id="616" idx="1"/>
          </p:cNvCxnSpPr>
          <p:nvPr/>
        </p:nvCxnSpPr>
        <p:spPr>
          <a:xfrm>
            <a:off x="4205225" y="2328343"/>
            <a:ext cx="7335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5" name="Google Shape;625;p59"/>
          <p:cNvCxnSpPr>
            <a:stCxn id="616" idx="2"/>
            <a:endCxn id="622" idx="0"/>
          </p:cNvCxnSpPr>
          <p:nvPr/>
        </p:nvCxnSpPr>
        <p:spPr>
          <a:xfrm rot="5400000">
            <a:off x="4437125" y="746443"/>
            <a:ext cx="269700" cy="4572000"/>
          </a:xfrm>
          <a:prstGeom prst="curvedConnector3">
            <a:avLst>
              <a:gd fmla="val 50013" name="adj1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6" name="Google Shape;626;p59"/>
          <p:cNvCxnSpPr>
            <a:stCxn id="620" idx="3"/>
            <a:endCxn id="621" idx="1"/>
          </p:cNvCxnSpPr>
          <p:nvPr/>
        </p:nvCxnSpPr>
        <p:spPr>
          <a:xfrm>
            <a:off x="4205250" y="4217825"/>
            <a:ext cx="7335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7" name="Google Shape;627;p59"/>
          <p:cNvSpPr txBox="1"/>
          <p:nvPr>
            <p:ph idx="1" type="body"/>
          </p:nvPr>
        </p:nvSpPr>
        <p:spPr>
          <a:xfrm>
            <a:off x="9510725" y="1772568"/>
            <a:ext cx="3838500" cy="1138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28" name="Google Shape;628;p59"/>
          <p:cNvCxnSpPr>
            <a:stCxn id="621" idx="3"/>
            <a:endCxn id="627" idx="1"/>
          </p:cNvCxnSpPr>
          <p:nvPr/>
        </p:nvCxnSpPr>
        <p:spPr>
          <a:xfrm flipH="1" rot="10800000">
            <a:off x="8777250" y="2341925"/>
            <a:ext cx="733500" cy="1875900"/>
          </a:xfrm>
          <a:prstGeom prst="curvedConnector3">
            <a:avLst>
              <a:gd fmla="val 49998" name="adj1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What? </a:t>
            </a:r>
            <a:r>
              <a:rPr lang="en">
                <a:solidFill>
                  <a:schemeClr val="lt2"/>
                </a:solidFill>
              </a:rPr>
              <a:t>Shrink the processed image further.</a:t>
            </a:r>
            <a:r>
              <a:rPr lang="en">
                <a:solidFill>
                  <a:schemeClr val="lt2"/>
                </a:solidFill>
              </a:rPr>
              <a:t>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Why?</a:t>
            </a:r>
            <a:r>
              <a:rPr lang="en">
                <a:solidFill>
                  <a:schemeClr val="lt2"/>
                </a:solidFill>
              </a:rPr>
              <a:t> Keep tabular feature count small enough for a tree-based model.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34" name="Google Shape;634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What? </a:t>
            </a:r>
            <a:r>
              <a:rPr lang="en">
                <a:solidFill>
                  <a:schemeClr val="lt2"/>
                </a:solidFill>
              </a:rPr>
              <a:t>Project pixel values into a [0, 1] scaled array.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Why?</a:t>
            </a:r>
            <a:r>
              <a:rPr lang="en">
                <a:solidFill>
                  <a:schemeClr val="lt2"/>
                </a:solidFill>
              </a:rPr>
              <a:t> Consistent scale for computing features.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35" name="Google Shape;63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5</a:t>
            </a:r>
            <a:r>
              <a:rPr b="1" lang="en">
                <a:solidFill>
                  <a:schemeClr val="lt2"/>
                </a:solidFill>
              </a:rPr>
              <a:t>. Downsampling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636" name="Google Shape;636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</a:rPr>
              <a:t>Ending: Data Augmentation</a:t>
            </a:r>
            <a:endParaRPr b="1">
              <a:solidFill>
                <a:schemeClr val="accent6"/>
              </a:solidFill>
            </a:endParaRPr>
          </a:p>
        </p:txBody>
      </p:sp>
      <p:sp>
        <p:nvSpPr>
          <p:cNvPr id="637" name="Google Shape;637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6</a:t>
            </a:r>
            <a:r>
              <a:rPr b="1" lang="en">
                <a:solidFill>
                  <a:schemeClr val="lt2"/>
                </a:solidFill>
              </a:rPr>
              <a:t>. Normalise to NPArray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638" name="Google Shape;638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What?</a:t>
            </a:r>
            <a:r>
              <a:rPr lang="en">
                <a:solidFill>
                  <a:schemeClr val="lt2"/>
                </a:solidFill>
              </a:rPr>
              <a:t> Compute pixel statistics and HOG features.</a:t>
            </a:r>
            <a:endParaRPr b="1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Why?</a:t>
            </a:r>
            <a:r>
              <a:rPr lang="en">
                <a:solidFill>
                  <a:schemeClr val="lt2"/>
                </a:solidFill>
              </a:rPr>
              <a:t> Capture structural texture at lower dimensionality instead of raw pixels.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39" name="Google Shape;639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</a:rPr>
              <a:t>What?</a:t>
            </a:r>
            <a:r>
              <a:rPr lang="en">
                <a:solidFill>
                  <a:schemeClr val="accent6"/>
                </a:solidFill>
              </a:rPr>
              <a:t> Slight rotations, zooms, contrast shifts.</a:t>
            </a:r>
            <a:endParaRPr b="1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</a:rPr>
              <a:t>Why?</a:t>
            </a:r>
            <a:r>
              <a:rPr lang="en">
                <a:solidFill>
                  <a:schemeClr val="accent6"/>
                </a:solidFill>
              </a:rPr>
              <a:t> Robustness and class balancing.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40" name="Google Shape;640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7</a:t>
            </a:r>
            <a:r>
              <a:rPr b="1" lang="en">
                <a:solidFill>
                  <a:schemeClr val="lt2"/>
                </a:solidFill>
              </a:rPr>
              <a:t>. Extract Features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641" name="Google Shape;641;p60"/>
          <p:cNvSpPr txBox="1"/>
          <p:nvPr>
            <p:ph type="title"/>
          </p:nvPr>
        </p:nvSpPr>
        <p:spPr>
          <a:xfrm>
            <a:off x="366750" y="450025"/>
            <a:ext cx="8410500" cy="600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Extended With the LightGBM</a:t>
            </a:r>
            <a:r>
              <a:rPr b="1" lang="en">
                <a:solidFill>
                  <a:schemeClr val="lt2"/>
                </a:solidFill>
              </a:rPr>
              <a:t> Pipeline!</a:t>
            </a:r>
            <a:endParaRPr b="1" baseline="-25000">
              <a:solidFill>
                <a:schemeClr val="lt2"/>
              </a:solidFill>
            </a:endParaRPr>
          </a:p>
        </p:txBody>
      </p:sp>
      <p:cxnSp>
        <p:nvCxnSpPr>
          <p:cNvPr id="642" name="Google Shape;642;p60"/>
          <p:cNvCxnSpPr>
            <a:stCxn id="633" idx="3"/>
            <a:endCxn id="634" idx="1"/>
          </p:cNvCxnSpPr>
          <p:nvPr/>
        </p:nvCxnSpPr>
        <p:spPr>
          <a:xfrm>
            <a:off x="4205225" y="2328343"/>
            <a:ext cx="7335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3" name="Google Shape;643;p60"/>
          <p:cNvCxnSpPr>
            <a:stCxn id="634" idx="2"/>
            <a:endCxn id="640" idx="0"/>
          </p:cNvCxnSpPr>
          <p:nvPr/>
        </p:nvCxnSpPr>
        <p:spPr>
          <a:xfrm rot="5400000">
            <a:off x="4437125" y="746443"/>
            <a:ext cx="269700" cy="4572000"/>
          </a:xfrm>
          <a:prstGeom prst="curvedConnector3">
            <a:avLst>
              <a:gd fmla="val 50013" name="adj1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4" name="Google Shape;644;p60"/>
          <p:cNvCxnSpPr>
            <a:stCxn id="638" idx="3"/>
            <a:endCxn id="639" idx="1"/>
          </p:cNvCxnSpPr>
          <p:nvPr/>
        </p:nvCxnSpPr>
        <p:spPr>
          <a:xfrm>
            <a:off x="4205250" y="4217825"/>
            <a:ext cx="7335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5" name="Google Shape;645;p60"/>
          <p:cNvSpPr txBox="1"/>
          <p:nvPr>
            <p:ph idx="3" type="body"/>
          </p:nvPr>
        </p:nvSpPr>
        <p:spPr>
          <a:xfrm>
            <a:off x="-4205250" y="3648575"/>
            <a:ext cx="3838500" cy="1138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646" name="Google Shape;646;p60"/>
          <p:cNvCxnSpPr>
            <a:stCxn id="645" idx="3"/>
            <a:endCxn id="633" idx="1"/>
          </p:cNvCxnSpPr>
          <p:nvPr/>
        </p:nvCxnSpPr>
        <p:spPr>
          <a:xfrm flipH="1" rot="10800000">
            <a:off x="-366750" y="2328425"/>
            <a:ext cx="733500" cy="1889400"/>
          </a:xfrm>
          <a:prstGeom prst="curvedConnector3">
            <a:avLst>
              <a:gd fmla="val 49998" name="adj1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1"/>
          <p:cNvSpPr txBox="1"/>
          <p:nvPr>
            <p:ph type="title"/>
          </p:nvPr>
        </p:nvSpPr>
        <p:spPr>
          <a:xfrm>
            <a:off x="311700" y="445025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But What About Data Leakage?!</a:t>
            </a:r>
            <a:endParaRPr b="1"/>
          </a:p>
        </p:txBody>
      </p:sp>
      <p:sp>
        <p:nvSpPr>
          <p:cNvPr id="652" name="Google Shape;652;p6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Assumption: </a:t>
            </a:r>
            <a:r>
              <a:rPr lang="en" sz="1400"/>
              <a:t>Kaggle dataset does not suffer from data leakage.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Residual Risk:</a:t>
            </a:r>
            <a:r>
              <a:rPr lang="en" sz="1400"/>
              <a:t> Multiple x-rays of the same patient?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Issue:</a:t>
            </a:r>
            <a:r>
              <a:rPr lang="en" sz="1400"/>
              <a:t> Raw data is just train/test.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Train set is split 80/20 train-validation.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Validation set does not contain any augmented data.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Preprocessing is done per image, not as a general whole.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Bonus: </a:t>
            </a:r>
            <a:r>
              <a:rPr lang="en" sz="1400"/>
              <a:t>LightGBM pipeline has both non-augmented and augmented datasets</a:t>
            </a:r>
            <a:endParaRPr sz="1400"/>
          </a:p>
        </p:txBody>
      </p:sp>
      <p:pic>
        <p:nvPicPr>
          <p:cNvPr id="653" name="Google Shape;65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975" y="1152475"/>
            <a:ext cx="3783337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61"/>
          <p:cNvSpPr txBox="1"/>
          <p:nvPr/>
        </p:nvSpPr>
        <p:spPr>
          <a:xfrm>
            <a:off x="5618325" y="1594000"/>
            <a:ext cx="1510800" cy="33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Leakage</a:t>
            </a:r>
            <a:endParaRPr b="1" sz="16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5" name="Google Shape;655;p61"/>
          <p:cNvSpPr txBox="1"/>
          <p:nvPr/>
        </p:nvSpPr>
        <p:spPr>
          <a:xfrm>
            <a:off x="7203950" y="4071041"/>
            <a:ext cx="440700" cy="22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6"/>
                </a:solidFill>
                <a:latin typeface="Comic Relief"/>
                <a:ea typeface="Comic Relief"/>
                <a:cs typeface="Comic Relief"/>
                <a:sym typeface="Comic Relief"/>
              </a:rPr>
              <a:t>dataset</a:t>
            </a:r>
            <a:endParaRPr b="1" sz="800">
              <a:solidFill>
                <a:schemeClr val="accent6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sp>
        <p:nvSpPr>
          <p:cNvPr id="656" name="Google Shape;656;p61"/>
          <p:cNvSpPr txBox="1"/>
          <p:nvPr/>
        </p:nvSpPr>
        <p:spPr>
          <a:xfrm>
            <a:off x="5618325" y="4269876"/>
            <a:ext cx="557700" cy="22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6"/>
                </a:solidFill>
                <a:latin typeface="Comic Relief"/>
                <a:ea typeface="Comic Relief"/>
                <a:cs typeface="Comic Relief"/>
                <a:sym typeface="Comic Relief"/>
              </a:rPr>
              <a:t>v</a:t>
            </a:r>
            <a:r>
              <a:rPr b="1" lang="en" sz="800">
                <a:solidFill>
                  <a:schemeClr val="accent6"/>
                </a:solidFill>
                <a:latin typeface="Comic Relief"/>
                <a:ea typeface="Comic Relief"/>
                <a:cs typeface="Comic Relief"/>
                <a:sym typeface="Comic Relief"/>
              </a:rPr>
              <a:t>ibe coder</a:t>
            </a:r>
            <a:endParaRPr b="1" sz="800">
              <a:solidFill>
                <a:schemeClr val="accent6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2"/>
          <p:cNvSpPr txBox="1"/>
          <p:nvPr>
            <p:ph type="title"/>
          </p:nvPr>
        </p:nvSpPr>
        <p:spPr>
          <a:xfrm>
            <a:off x="490250" y="450150"/>
            <a:ext cx="6367800" cy="8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</a:rPr>
              <a:t>Training &amp; Results </a:t>
            </a:r>
            <a:endParaRPr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3"/>
          <p:cNvSpPr txBox="1"/>
          <p:nvPr>
            <p:ph type="title"/>
          </p:nvPr>
        </p:nvSpPr>
        <p:spPr>
          <a:xfrm>
            <a:off x="311700" y="555600"/>
            <a:ext cx="62097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Hyperparameter Tuning &amp; Training</a:t>
            </a:r>
            <a:endParaRPr b="1"/>
          </a:p>
        </p:txBody>
      </p:sp>
      <p:sp>
        <p:nvSpPr>
          <p:cNvPr id="667" name="Google Shape;667;p6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Grid Search &amp; 5-fold Stratified K-fold</a:t>
            </a:r>
            <a:r>
              <a:rPr lang="en" sz="1400"/>
              <a:t> </a:t>
            </a:r>
            <a:r>
              <a:rPr b="1" lang="en" sz="1400"/>
              <a:t>Cross-validation</a:t>
            </a:r>
            <a:r>
              <a:rPr lang="en" sz="1400"/>
              <a:t>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Selection Metric: </a:t>
            </a:r>
            <a:r>
              <a:rPr lang="en" sz="1400"/>
              <a:t>Macro-F1 for tracking class balance.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Early Stopping:</a:t>
            </a:r>
            <a:r>
              <a:rPr lang="en" sz="1400"/>
              <a:t> 3 epochs.</a:t>
            </a:r>
            <a:endParaRPr sz="1400"/>
          </a:p>
        </p:txBody>
      </p:sp>
      <p:graphicFrame>
        <p:nvGraphicFramePr>
          <p:cNvPr id="668" name="Google Shape;668;p63"/>
          <p:cNvGraphicFramePr/>
          <p:nvPr/>
        </p:nvGraphicFramePr>
        <p:xfrm>
          <a:off x="3275975" y="138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{84686936-BF18-433C-BA6A-359ADBFF673B}</a:tableStyleId>
              </a:tblPr>
              <a:tblGrid>
                <a:gridCol w="1527750"/>
                <a:gridCol w="1785675"/>
                <a:gridCol w="2264625"/>
              </a:tblGrid>
              <a:tr h="44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Hyperparameters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Range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47825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CNN/ResNet-18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Learning Rate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1e-4, 1e-3, 1e-2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478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Batch Size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16, 32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478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 Decay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0, 1e-4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47825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LightGBM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Learning Rate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0.01, 0.05, 0.1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478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Leaves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15, 31, 63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478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Maximum Depth</a:t>
                      </a:r>
                      <a:endParaRPr/>
                    </a:p>
                  </a:txBody>
                  <a:tcPr marT="91425" marB="91425" marR="91425" marL="91425" anchor="ctr"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4, 6, </a:t>
                      </a:r>
                      <a:r>
                        <a:rPr lang="en"/>
                        <a:t>Unlimited (-1)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4"/>
          <p:cNvSpPr txBox="1"/>
          <p:nvPr>
            <p:ph type="title"/>
          </p:nvPr>
        </p:nvSpPr>
        <p:spPr>
          <a:xfrm>
            <a:off x="311700" y="445025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CNN</a:t>
            </a:r>
            <a:endParaRPr/>
          </a:p>
        </p:txBody>
      </p:sp>
      <p:pic>
        <p:nvPicPr>
          <p:cNvPr id="674" name="Google Shape;674;p64" title="cnn_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7975"/>
            <a:ext cx="8520600" cy="3195225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64"/>
          <p:cNvSpPr txBox="1"/>
          <p:nvPr>
            <p:ph type="title"/>
          </p:nvPr>
        </p:nvSpPr>
        <p:spPr>
          <a:xfrm>
            <a:off x="311700" y="4328950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</a:t>
            </a:r>
            <a:r>
              <a:rPr lang="en" sz="1200"/>
              <a:t>earning Rate = 0.0001; Batch Size = 16; Weight Decay = 0.000</a:t>
            </a:r>
            <a:r>
              <a:rPr lang="en" sz="1200"/>
              <a:t>1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Max Epochs = 20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5"/>
          <p:cNvSpPr txBox="1"/>
          <p:nvPr>
            <p:ph type="title"/>
          </p:nvPr>
        </p:nvSpPr>
        <p:spPr>
          <a:xfrm>
            <a:off x="311700" y="445025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LightGBM</a:t>
            </a:r>
            <a:endParaRPr/>
          </a:p>
        </p:txBody>
      </p:sp>
      <p:sp>
        <p:nvSpPr>
          <p:cNvPr id="681" name="Google Shape;681;p65"/>
          <p:cNvSpPr txBox="1"/>
          <p:nvPr>
            <p:ph type="title"/>
          </p:nvPr>
        </p:nvSpPr>
        <p:spPr>
          <a:xfrm>
            <a:off x="311700" y="4328950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(Learning Rate = 0.1; Number of Leaves = 15; Maximum Depth = Infinite)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Max Epochs = 150</a:t>
            </a:r>
            <a:endParaRPr sz="1200"/>
          </a:p>
        </p:txBody>
      </p:sp>
      <p:pic>
        <p:nvPicPr>
          <p:cNvPr id="682" name="Google Shape;682;p65" title="lgbm_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7975"/>
            <a:ext cx="8520600" cy="31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6"/>
          <p:cNvSpPr txBox="1"/>
          <p:nvPr>
            <p:ph type="title"/>
          </p:nvPr>
        </p:nvSpPr>
        <p:spPr>
          <a:xfrm>
            <a:off x="311700" y="445025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ResNet-18</a:t>
            </a:r>
            <a:endParaRPr/>
          </a:p>
        </p:txBody>
      </p:sp>
      <p:sp>
        <p:nvSpPr>
          <p:cNvPr id="688" name="Google Shape;688;p66"/>
          <p:cNvSpPr txBox="1"/>
          <p:nvPr>
            <p:ph type="title"/>
          </p:nvPr>
        </p:nvSpPr>
        <p:spPr>
          <a:xfrm>
            <a:off x="311700" y="4328950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(Learning Rate = 0.</a:t>
            </a:r>
            <a:r>
              <a:rPr lang="en" sz="1200"/>
              <a:t>0001</a:t>
            </a:r>
            <a:r>
              <a:rPr lang="en" sz="1200"/>
              <a:t>; </a:t>
            </a:r>
            <a:r>
              <a:rPr lang="en" sz="1200"/>
              <a:t>Batch Size = 32; Weight Decay = 0.0001)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Max Epochs = 10</a:t>
            </a:r>
            <a:endParaRPr sz="1200"/>
          </a:p>
        </p:txBody>
      </p:sp>
      <p:pic>
        <p:nvPicPr>
          <p:cNvPr id="689" name="Google Shape;689;p66" title="resnet_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7975"/>
            <a:ext cx="8520600" cy="31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7"/>
          <p:cNvSpPr txBox="1"/>
          <p:nvPr>
            <p:ph idx="1" type="body"/>
          </p:nvPr>
        </p:nvSpPr>
        <p:spPr>
          <a:xfrm>
            <a:off x="311700" y="3442825"/>
            <a:ext cx="8520600" cy="14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/>
              <a:t>All three models confuse the two infectious classes and under-detect the minority VIRUS class; ResNet-18 best mitigates this, while LightGBM's high BACTERIA score reflects a majority-class bias rather than balanced skill, even after data augmentation.</a:t>
            </a:r>
            <a:endParaRPr sz="1600"/>
          </a:p>
        </p:txBody>
      </p:sp>
      <p:sp>
        <p:nvSpPr>
          <p:cNvPr id="695" name="Google Shape;695;p67"/>
          <p:cNvSpPr txBox="1"/>
          <p:nvPr>
            <p:ph idx="7" type="subTitle"/>
          </p:nvPr>
        </p:nvSpPr>
        <p:spPr>
          <a:xfrm>
            <a:off x="311725" y="2961625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CNN</a:t>
            </a:r>
            <a:endParaRPr b="1"/>
          </a:p>
        </p:txBody>
      </p:sp>
      <p:sp>
        <p:nvSpPr>
          <p:cNvPr id="696" name="Google Shape;696;p67"/>
          <p:cNvSpPr txBox="1"/>
          <p:nvPr>
            <p:ph idx="8" type="subTitle"/>
          </p:nvPr>
        </p:nvSpPr>
        <p:spPr>
          <a:xfrm>
            <a:off x="6205225" y="2961625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ResNet-18</a:t>
            </a:r>
            <a:endParaRPr b="1"/>
          </a:p>
        </p:txBody>
      </p:sp>
      <p:sp>
        <p:nvSpPr>
          <p:cNvPr id="697" name="Google Shape;697;p67"/>
          <p:cNvSpPr txBox="1"/>
          <p:nvPr>
            <p:ph idx="9" type="subTitle"/>
          </p:nvPr>
        </p:nvSpPr>
        <p:spPr>
          <a:xfrm>
            <a:off x="3255250" y="2961625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LightGBM</a:t>
            </a:r>
            <a:endParaRPr b="1"/>
          </a:p>
        </p:txBody>
      </p:sp>
      <p:sp>
        <p:nvSpPr>
          <p:cNvPr id="698" name="Google Shape;698;p67"/>
          <p:cNvSpPr txBox="1"/>
          <p:nvPr>
            <p:ph type="title"/>
          </p:nvPr>
        </p:nvSpPr>
        <p:spPr>
          <a:xfrm>
            <a:off x="311700" y="445025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Confusion Matrices</a:t>
            </a:r>
            <a:endParaRPr b="1"/>
          </a:p>
        </p:txBody>
      </p:sp>
      <p:pic>
        <p:nvPicPr>
          <p:cNvPr id="699" name="Google Shape;699;p67" title="cnn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982925"/>
            <a:ext cx="2627100" cy="197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67" title="lgbm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250" y="962230"/>
            <a:ext cx="2627100" cy="1970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7" title="resnet_confusion_matri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5225" y="962225"/>
            <a:ext cx="2627100" cy="197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8"/>
          <p:cNvSpPr txBox="1"/>
          <p:nvPr>
            <p:ph type="title"/>
          </p:nvPr>
        </p:nvSpPr>
        <p:spPr>
          <a:xfrm rot="-413017">
            <a:off x="490186" y="450190"/>
            <a:ext cx="6367801" cy="849708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FFFF00"/>
                </a:solidFill>
                <a:highlight>
                  <a:schemeClr val="accent6"/>
                </a:highlight>
                <a:latin typeface="Comic Relief"/>
                <a:ea typeface="Comic Relief"/>
                <a:cs typeface="Comic Relief"/>
                <a:sym typeface="Comic Relief"/>
              </a:rPr>
              <a:t>professionalism</a:t>
            </a:r>
            <a:endParaRPr b="1" i="1">
              <a:solidFill>
                <a:srgbClr val="FFFF00"/>
              </a:solidFill>
              <a:highlight>
                <a:schemeClr val="accent6"/>
              </a:highlight>
              <a:latin typeface="Comic Relief"/>
              <a:ea typeface="Comic Relief"/>
              <a:cs typeface="Comic Relief"/>
              <a:sym typeface="Comic Relief"/>
            </a:endParaRPr>
          </a:p>
        </p:txBody>
      </p:sp>
      <p:pic>
        <p:nvPicPr>
          <p:cNvPr id="707" name="Google Shape;70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372" y="1642900"/>
            <a:ext cx="3178425" cy="30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8"/>
          <p:cNvSpPr txBox="1"/>
          <p:nvPr/>
        </p:nvSpPr>
        <p:spPr>
          <a:xfrm>
            <a:off x="145875" y="4788250"/>
            <a:ext cx="404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304800" y="4483450"/>
            <a:ext cx="404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Final_final_version_2_final_v3.pdf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9"/>
          <p:cNvSpPr txBox="1"/>
          <p:nvPr>
            <p:ph type="title"/>
          </p:nvPr>
        </p:nvSpPr>
        <p:spPr>
          <a:xfrm>
            <a:off x="128875" y="228600"/>
            <a:ext cx="63414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Professionalism</a:t>
            </a:r>
            <a:endParaRPr b="1" sz="4800"/>
          </a:p>
        </p:txBody>
      </p:sp>
      <p:grpSp>
        <p:nvGrpSpPr>
          <p:cNvPr id="715" name="Google Shape;715;p69"/>
          <p:cNvGrpSpPr/>
          <p:nvPr/>
        </p:nvGrpSpPr>
        <p:grpSpPr>
          <a:xfrm>
            <a:off x="305475" y="1832000"/>
            <a:ext cx="8533050" cy="2576400"/>
            <a:chOff x="305475" y="1832000"/>
            <a:chExt cx="8533050" cy="2576400"/>
          </a:xfrm>
        </p:grpSpPr>
        <p:sp>
          <p:nvSpPr>
            <p:cNvPr id="716" name="Google Shape;716;p69"/>
            <p:cNvSpPr/>
            <p:nvPr/>
          </p:nvSpPr>
          <p:spPr>
            <a:xfrm>
              <a:off x="305475" y="183200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3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Fully Documented Clear Code</a:t>
              </a:r>
              <a:endParaRPr b="1">
                <a:solidFill>
                  <a:schemeClr val="accent3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17" name="Google Shape;717;p69"/>
            <p:cNvSpPr/>
            <p:nvPr/>
          </p:nvSpPr>
          <p:spPr>
            <a:xfrm>
              <a:off x="2497125" y="183200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A9955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Detailed README</a:t>
              </a:r>
              <a:endParaRPr b="1">
                <a:solidFill>
                  <a:srgbClr val="6A9955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18" name="Google Shape;718;p69"/>
            <p:cNvSpPr/>
            <p:nvPr/>
          </p:nvSpPr>
          <p:spPr>
            <a:xfrm>
              <a:off x="4688775" y="183200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2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Pre-Commit Hooks</a:t>
              </a:r>
              <a:endParaRPr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19" name="Google Shape;719;p69"/>
            <p:cNvSpPr/>
            <p:nvPr/>
          </p:nvSpPr>
          <p:spPr>
            <a:xfrm>
              <a:off x="6880425" y="183200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3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u</a:t>
              </a:r>
              <a:r>
                <a:rPr b="1" lang="en">
                  <a:solidFill>
                    <a:schemeClr val="accent3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v Package Management</a:t>
              </a:r>
              <a:endParaRPr b="1">
                <a:solidFill>
                  <a:schemeClr val="accent3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20" name="Google Shape;720;p69"/>
            <p:cNvSpPr/>
            <p:nvPr/>
          </p:nvSpPr>
          <p:spPr>
            <a:xfrm>
              <a:off x="305475" y="275630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2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Tensorboard for Monitoring</a:t>
              </a:r>
              <a:endParaRPr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21" name="Google Shape;721;p69"/>
            <p:cNvSpPr/>
            <p:nvPr/>
          </p:nvSpPr>
          <p:spPr>
            <a:xfrm>
              <a:off x="2497125" y="275630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3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Local Configs to Hide Secrets</a:t>
              </a:r>
              <a:endParaRPr b="1">
                <a:solidFill>
                  <a:schemeClr val="accent3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22" name="Google Shape;722;p69"/>
            <p:cNvSpPr/>
            <p:nvPr/>
          </p:nvSpPr>
          <p:spPr>
            <a:xfrm>
              <a:off x="4688775" y="2748475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A9955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Logging Everywhere</a:t>
              </a:r>
              <a:endParaRPr b="1">
                <a:solidFill>
                  <a:srgbClr val="6A9955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23" name="Google Shape;723;p69"/>
            <p:cNvSpPr/>
            <p:nvPr/>
          </p:nvSpPr>
          <p:spPr>
            <a:xfrm>
              <a:off x="6880425" y="2748475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2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Unit Tests With GitHub Actions</a:t>
              </a:r>
              <a:endParaRPr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24" name="Google Shape;724;p69"/>
            <p:cNvSpPr/>
            <p:nvPr/>
          </p:nvSpPr>
          <p:spPr>
            <a:xfrm>
              <a:off x="305475" y="368060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A9955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Pull Request Practices</a:t>
              </a:r>
              <a:endParaRPr b="1">
                <a:solidFill>
                  <a:srgbClr val="6A9955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25" name="Google Shape;725;p69"/>
            <p:cNvSpPr/>
            <p:nvPr/>
          </p:nvSpPr>
          <p:spPr>
            <a:xfrm>
              <a:off x="2497125" y="368060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2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Weekly Meetings at the Friday Lab</a:t>
              </a:r>
              <a:endParaRPr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26" name="Google Shape;726;p69"/>
            <p:cNvSpPr/>
            <p:nvPr/>
          </p:nvSpPr>
          <p:spPr>
            <a:xfrm>
              <a:off x="4688775" y="366495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3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Command Line Interface (CLI)</a:t>
              </a:r>
              <a:endParaRPr b="1">
                <a:solidFill>
                  <a:schemeClr val="accent3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27" name="Google Shape;727;p69"/>
            <p:cNvSpPr/>
            <p:nvPr/>
          </p:nvSpPr>
          <p:spPr>
            <a:xfrm>
              <a:off x="6880425" y="3664950"/>
              <a:ext cx="1958100" cy="7278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A9955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Sync With Overleaf for Quick Access</a:t>
              </a:r>
              <a:endParaRPr b="1">
                <a:solidFill>
                  <a:srgbClr val="6A9955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70" title="Screenshot 2026-06-08 at 18.06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588" y="110125"/>
            <a:ext cx="6352826" cy="492323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1"/>
          <p:cNvSpPr txBox="1"/>
          <p:nvPr>
            <p:ph type="title"/>
          </p:nvPr>
        </p:nvSpPr>
        <p:spPr>
          <a:xfrm>
            <a:off x="490250" y="450150"/>
            <a:ext cx="6367800" cy="8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</a:rPr>
              <a:t>Extras and Insights</a:t>
            </a:r>
            <a:endParaRPr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2"/>
          <p:cNvSpPr txBox="1"/>
          <p:nvPr>
            <p:ph type="title"/>
          </p:nvPr>
        </p:nvSpPr>
        <p:spPr>
          <a:xfrm>
            <a:off x="351550" y="445025"/>
            <a:ext cx="33897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Uncertainty Quantification</a:t>
            </a:r>
            <a:endParaRPr b="1"/>
          </a:p>
        </p:txBody>
      </p:sp>
      <p:grpSp>
        <p:nvGrpSpPr>
          <p:cNvPr id="743" name="Google Shape;743;p72"/>
          <p:cNvGrpSpPr/>
          <p:nvPr/>
        </p:nvGrpSpPr>
        <p:grpSpPr>
          <a:xfrm>
            <a:off x="3741168" y="107425"/>
            <a:ext cx="5252956" cy="4928651"/>
            <a:chOff x="3741168" y="107425"/>
            <a:chExt cx="5252956" cy="4928651"/>
          </a:xfrm>
        </p:grpSpPr>
        <p:grpSp>
          <p:nvGrpSpPr>
            <p:cNvPr id="744" name="Google Shape;744;p72"/>
            <p:cNvGrpSpPr/>
            <p:nvPr/>
          </p:nvGrpSpPr>
          <p:grpSpPr>
            <a:xfrm>
              <a:off x="3742881" y="107425"/>
              <a:ext cx="5249525" cy="1558059"/>
              <a:chOff x="3396425" y="107450"/>
              <a:chExt cx="5249525" cy="1558059"/>
            </a:xfrm>
          </p:grpSpPr>
          <p:pic>
            <p:nvPicPr>
              <p:cNvPr id="745" name="Google Shape;745;p72" title="CNN_reliability_diagram_test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087900" y="107454"/>
                <a:ext cx="1558050" cy="1558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6" name="Google Shape;746;p72" title="CNN_selective_prediction_test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75925" y="107450"/>
                <a:ext cx="2596800" cy="15580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7" name="Google Shape;747;p72"/>
              <p:cNvSpPr txBox="1"/>
              <p:nvPr/>
            </p:nvSpPr>
            <p:spPr>
              <a:xfrm rot="-5400000">
                <a:off x="2935475" y="579729"/>
                <a:ext cx="15354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accent6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CNN</a:t>
                </a:r>
                <a:endParaRPr sz="2000">
                  <a:solidFill>
                    <a:schemeClr val="accent6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48" name="Google Shape;748;p72"/>
            <p:cNvGrpSpPr/>
            <p:nvPr/>
          </p:nvGrpSpPr>
          <p:grpSpPr>
            <a:xfrm>
              <a:off x="3741168" y="1792688"/>
              <a:ext cx="5252956" cy="1558077"/>
              <a:chOff x="3393000" y="1798450"/>
              <a:chExt cx="5252956" cy="1558077"/>
            </a:xfrm>
          </p:grpSpPr>
          <p:pic>
            <p:nvPicPr>
              <p:cNvPr id="749" name="Google Shape;749;p72" title="LightGBM_reliability_diagram_test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091500" y="1800249"/>
                <a:ext cx="1554456" cy="15544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0" name="Google Shape;750;p72"/>
              <p:cNvSpPr txBox="1"/>
              <p:nvPr/>
            </p:nvSpPr>
            <p:spPr>
              <a:xfrm rot="-5400000">
                <a:off x="2932050" y="2270739"/>
                <a:ext cx="15354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accent6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LightBM</a:t>
                </a:r>
                <a:endParaRPr sz="2000">
                  <a:solidFill>
                    <a:schemeClr val="accent6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51" name="Google Shape;751;p72" title="LightGBM_selective_prediction_test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74500" y="1798450"/>
                <a:ext cx="2596800" cy="155807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52" name="Google Shape;752;p72"/>
            <p:cNvGrpSpPr/>
            <p:nvPr/>
          </p:nvGrpSpPr>
          <p:grpSpPr>
            <a:xfrm>
              <a:off x="3741168" y="3478000"/>
              <a:ext cx="5252951" cy="1558076"/>
              <a:chOff x="3393000" y="3489475"/>
              <a:chExt cx="5252951" cy="1558076"/>
            </a:xfrm>
          </p:grpSpPr>
          <p:sp>
            <p:nvSpPr>
              <p:cNvPr id="753" name="Google Shape;753;p72"/>
              <p:cNvSpPr txBox="1"/>
              <p:nvPr/>
            </p:nvSpPr>
            <p:spPr>
              <a:xfrm rot="-5400000">
                <a:off x="2932050" y="3973050"/>
                <a:ext cx="15354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accent6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ResNet-18</a:t>
                </a:r>
                <a:endParaRPr sz="2000">
                  <a:solidFill>
                    <a:schemeClr val="accent6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54" name="Google Shape;754;p72" title="ResNet_selective_prediction_test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074550" y="3489475"/>
                <a:ext cx="2596800" cy="15580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5" name="Google Shape;755;p72" title="ResNet_reliability_diagram_test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087875" y="3489475"/>
                <a:ext cx="1558076" cy="15580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56" name="Google Shape;756;p72"/>
          <p:cNvSpPr txBox="1"/>
          <p:nvPr>
            <p:ph type="title"/>
          </p:nvPr>
        </p:nvSpPr>
        <p:spPr>
          <a:xfrm>
            <a:off x="351550" y="1291375"/>
            <a:ext cx="3389700" cy="27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</a:pPr>
            <a:r>
              <a:rPr b="1" lang="en" sz="1400">
                <a:latin typeface="Instrument Sans"/>
                <a:ea typeface="Instrument Sans"/>
                <a:cs typeface="Instrument Sans"/>
                <a:sym typeface="Instrument Sans"/>
              </a:rPr>
              <a:t>Calibration: </a:t>
            </a:r>
            <a:r>
              <a:rPr lang="en" sz="1400">
                <a:latin typeface="Instrument Sans"/>
                <a:ea typeface="Instrument Sans"/>
                <a:cs typeface="Instrument Sans"/>
                <a:sym typeface="Instrument Sans"/>
              </a:rPr>
              <a:t>Temperature scaling scored by ECE.</a:t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</a:pPr>
            <a:r>
              <a:rPr b="1" lang="en" sz="1400">
                <a:latin typeface="Instrument Sans"/>
                <a:ea typeface="Instrument Sans"/>
                <a:cs typeface="Instrument Sans"/>
                <a:sym typeface="Instrument Sans"/>
              </a:rPr>
              <a:t>Selective Prediction:</a:t>
            </a:r>
            <a:r>
              <a:rPr lang="en" sz="1400">
                <a:latin typeface="Instrument Sans"/>
                <a:ea typeface="Instrument Sans"/>
                <a:cs typeface="Instrument Sans"/>
                <a:sym typeface="Instrument Sans"/>
              </a:rPr>
              <a:t> Confidence-based Abstention (AURC).</a:t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</a:pPr>
            <a:r>
              <a:rPr b="1" lang="en" sz="1400">
                <a:latin typeface="Instrument Sans"/>
                <a:ea typeface="Instrument Sans"/>
                <a:cs typeface="Instrument Sans"/>
                <a:sym typeface="Instrument Sans"/>
              </a:rPr>
              <a:t>Metrics:</a:t>
            </a:r>
            <a:r>
              <a:rPr lang="en" sz="1400">
                <a:latin typeface="Instrument Sans"/>
                <a:ea typeface="Instrument Sans"/>
                <a:cs typeface="Instrument Sans"/>
                <a:sym typeface="Instrument Sans"/>
              </a:rPr>
              <a:t> ECE, Brier, NLL, Entropy</a:t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</a:pPr>
            <a:r>
              <a:rPr b="1" lang="en" sz="1400">
                <a:latin typeface="Instrument Sans"/>
                <a:ea typeface="Instrument Sans"/>
                <a:cs typeface="Instrument Sans"/>
                <a:sym typeface="Instrument Sans"/>
              </a:rPr>
              <a:t>Most Underconfident:</a:t>
            </a:r>
            <a:r>
              <a:rPr lang="en" sz="1400">
                <a:latin typeface="Instrument Sans"/>
                <a:ea typeface="Instrument Sans"/>
                <a:cs typeface="Instrument Sans"/>
                <a:sym typeface="Instrument Sans"/>
              </a:rPr>
              <a:t> CNN</a:t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</a:pPr>
            <a:r>
              <a:rPr b="1" lang="en" sz="1400">
                <a:latin typeface="Instrument Sans"/>
                <a:ea typeface="Instrument Sans"/>
                <a:cs typeface="Instrument Sans"/>
                <a:sym typeface="Instrument Sans"/>
              </a:rPr>
              <a:t>Best Calibrated:</a:t>
            </a:r>
            <a:r>
              <a:rPr lang="en" sz="1400">
                <a:latin typeface="Instrument Sans"/>
                <a:ea typeface="Instrument Sans"/>
                <a:cs typeface="Instrument Sans"/>
                <a:sym typeface="Instrument Sans"/>
              </a:rPr>
              <a:t> LightGBM</a:t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</a:pPr>
            <a:r>
              <a:rPr b="1" lang="en" sz="1400">
                <a:latin typeface="Instrument Sans"/>
                <a:ea typeface="Instrument Sans"/>
                <a:cs typeface="Instrument Sans"/>
                <a:sym typeface="Instrument Sans"/>
              </a:rPr>
              <a:t>Best Selective Prediction:</a:t>
            </a:r>
            <a:r>
              <a:rPr lang="en" sz="1400">
                <a:latin typeface="Instrument Sans"/>
                <a:ea typeface="Instrument Sans"/>
                <a:cs typeface="Instrument Sans"/>
                <a:sym typeface="Instrument Sans"/>
              </a:rPr>
              <a:t> ResNet-18</a:t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3"/>
          <p:cNvSpPr txBox="1"/>
          <p:nvPr>
            <p:ph type="title"/>
          </p:nvPr>
        </p:nvSpPr>
        <p:spPr>
          <a:xfrm>
            <a:off x="311700" y="445025"/>
            <a:ext cx="8520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Containerisation</a:t>
            </a:r>
            <a:endParaRPr b="1"/>
          </a:p>
        </p:txBody>
      </p:sp>
      <p:sp>
        <p:nvSpPr>
          <p:cNvPr id="762" name="Google Shape;762;p73"/>
          <p:cNvSpPr txBox="1"/>
          <p:nvPr>
            <p:ph idx="7" type="subTitle"/>
          </p:nvPr>
        </p:nvSpPr>
        <p:spPr>
          <a:xfrm>
            <a:off x="215275" y="3503228"/>
            <a:ext cx="2686500" cy="4920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32"/>
              <a:t>Frontend:</a:t>
            </a:r>
            <a:r>
              <a:rPr lang="en" sz="1432"/>
              <a:t> Streamlit</a:t>
            </a:r>
            <a:endParaRPr sz="1432"/>
          </a:p>
        </p:txBody>
      </p:sp>
      <p:sp>
        <p:nvSpPr>
          <p:cNvPr id="763" name="Google Shape;763;p73"/>
          <p:cNvSpPr txBox="1"/>
          <p:nvPr>
            <p:ph idx="8" type="subTitle"/>
          </p:nvPr>
        </p:nvSpPr>
        <p:spPr>
          <a:xfrm>
            <a:off x="6242222" y="3503228"/>
            <a:ext cx="2686500" cy="4920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32"/>
              <a:t>Monitoring:</a:t>
            </a:r>
            <a:r>
              <a:rPr lang="en" sz="1432"/>
              <a:t> Tensorboard</a:t>
            </a:r>
            <a:endParaRPr sz="1432"/>
          </a:p>
        </p:txBody>
      </p:sp>
      <p:sp>
        <p:nvSpPr>
          <p:cNvPr id="764" name="Google Shape;764;p73"/>
          <p:cNvSpPr txBox="1"/>
          <p:nvPr>
            <p:ph idx="9" type="subTitle"/>
          </p:nvPr>
        </p:nvSpPr>
        <p:spPr>
          <a:xfrm>
            <a:off x="3225451" y="3503228"/>
            <a:ext cx="2686500" cy="492000"/>
          </a:xfrm>
          <a:prstGeom prst="rect">
            <a:avLst/>
          </a:prstGeom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32"/>
              <a:t>Backend:</a:t>
            </a:r>
            <a:r>
              <a:rPr lang="en" sz="1432"/>
              <a:t> FastAPI</a:t>
            </a:r>
            <a:endParaRPr sz="1432"/>
          </a:p>
        </p:txBody>
      </p:sp>
      <p:pic>
        <p:nvPicPr>
          <p:cNvPr id="765" name="Google Shape;76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218" y="1146725"/>
            <a:ext cx="2385638" cy="2324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2691" y="1148924"/>
            <a:ext cx="2385647" cy="2324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31" y="1148924"/>
            <a:ext cx="2385647" cy="2324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73" title="Docker_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3200" y="4284858"/>
            <a:ext cx="2757673" cy="627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9" name="Google Shape;769;p73"/>
          <p:cNvCxnSpPr>
            <a:stCxn id="762" idx="2"/>
            <a:endCxn id="768" idx="0"/>
          </p:cNvCxnSpPr>
          <p:nvPr/>
        </p:nvCxnSpPr>
        <p:spPr>
          <a:xfrm flipH="1" rot="-5400000">
            <a:off x="2920525" y="2633228"/>
            <a:ext cx="289500" cy="3013500"/>
          </a:xfrm>
          <a:prstGeom prst="curvedConnector3">
            <a:avLst>
              <a:gd fmla="val 50022" name="adj1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73"/>
          <p:cNvCxnSpPr>
            <a:stCxn id="763" idx="2"/>
            <a:endCxn id="768" idx="0"/>
          </p:cNvCxnSpPr>
          <p:nvPr/>
        </p:nvCxnSpPr>
        <p:spPr>
          <a:xfrm rot="5400000">
            <a:off x="5933972" y="2633228"/>
            <a:ext cx="289500" cy="3013500"/>
          </a:xfrm>
          <a:prstGeom prst="curvedConnector3">
            <a:avLst>
              <a:gd fmla="val 50022" name="adj1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4"/>
          <p:cNvSpPr txBox="1"/>
          <p:nvPr>
            <p:ph type="title"/>
          </p:nvPr>
        </p:nvSpPr>
        <p:spPr>
          <a:xfrm>
            <a:off x="365098" y="204287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</a:t>
            </a:r>
            <a:endParaRPr b="1"/>
          </a:p>
        </p:txBody>
      </p:sp>
      <p:sp>
        <p:nvSpPr>
          <p:cNvPr id="776" name="Google Shape;776;p74"/>
          <p:cNvSpPr txBox="1"/>
          <p:nvPr>
            <p:ph idx="2" type="title"/>
          </p:nvPr>
        </p:nvSpPr>
        <p:spPr>
          <a:xfrm>
            <a:off x="365098" y="267152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</a:t>
            </a:r>
            <a:endParaRPr b="1"/>
          </a:p>
        </p:txBody>
      </p:sp>
      <p:sp>
        <p:nvSpPr>
          <p:cNvPr id="777" name="Google Shape;777;p74"/>
          <p:cNvSpPr txBox="1"/>
          <p:nvPr>
            <p:ph idx="3" type="title"/>
          </p:nvPr>
        </p:nvSpPr>
        <p:spPr>
          <a:xfrm>
            <a:off x="365098" y="3313600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</a:t>
            </a:r>
            <a:endParaRPr b="1"/>
          </a:p>
        </p:txBody>
      </p:sp>
      <p:sp>
        <p:nvSpPr>
          <p:cNvPr id="778" name="Google Shape;778;p74"/>
          <p:cNvSpPr txBox="1"/>
          <p:nvPr>
            <p:ph idx="5" type="title"/>
          </p:nvPr>
        </p:nvSpPr>
        <p:spPr>
          <a:xfrm>
            <a:off x="1483100" y="2692075"/>
            <a:ext cx="7424400" cy="461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Accuracy ≠ calibration.</a:t>
            </a:r>
            <a:endParaRPr sz="2000"/>
          </a:p>
        </p:txBody>
      </p:sp>
      <p:sp>
        <p:nvSpPr>
          <p:cNvPr id="779" name="Google Shape;779;p74"/>
          <p:cNvSpPr txBox="1"/>
          <p:nvPr>
            <p:ph idx="6" type="title"/>
          </p:nvPr>
        </p:nvSpPr>
        <p:spPr>
          <a:xfrm>
            <a:off x="365098" y="392882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5</a:t>
            </a:r>
            <a:endParaRPr b="1"/>
          </a:p>
        </p:txBody>
      </p:sp>
      <p:sp>
        <p:nvSpPr>
          <p:cNvPr id="780" name="Google Shape;780;p74"/>
          <p:cNvSpPr txBox="1"/>
          <p:nvPr>
            <p:ph idx="7" type="title"/>
          </p:nvPr>
        </p:nvSpPr>
        <p:spPr>
          <a:xfrm>
            <a:off x="365098" y="1408538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</a:t>
            </a:r>
            <a:endParaRPr b="1"/>
          </a:p>
        </p:txBody>
      </p:sp>
      <p:sp>
        <p:nvSpPr>
          <p:cNvPr id="781" name="Google Shape;781;p74"/>
          <p:cNvSpPr txBox="1"/>
          <p:nvPr>
            <p:ph idx="8" type="title"/>
          </p:nvPr>
        </p:nvSpPr>
        <p:spPr>
          <a:xfrm>
            <a:off x="133375" y="236850"/>
            <a:ext cx="5078700" cy="498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Insights</a:t>
            </a:r>
            <a:endParaRPr b="1"/>
          </a:p>
        </p:txBody>
      </p:sp>
      <p:sp>
        <p:nvSpPr>
          <p:cNvPr id="782" name="Google Shape;782;p74"/>
          <p:cNvSpPr txBox="1"/>
          <p:nvPr>
            <p:ph idx="9" type="title"/>
          </p:nvPr>
        </p:nvSpPr>
        <p:spPr>
          <a:xfrm>
            <a:off x="1483100" y="1429100"/>
            <a:ext cx="7424400" cy="461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Bacterial against viral pneumonia is difficult from overlap.</a:t>
            </a:r>
            <a:endParaRPr sz="2000"/>
          </a:p>
        </p:txBody>
      </p:sp>
      <p:sp>
        <p:nvSpPr>
          <p:cNvPr id="783" name="Google Shape;783;p74"/>
          <p:cNvSpPr txBox="1"/>
          <p:nvPr>
            <p:ph idx="13" type="title"/>
          </p:nvPr>
        </p:nvSpPr>
        <p:spPr>
          <a:xfrm>
            <a:off x="1483100" y="2063425"/>
            <a:ext cx="7424400" cy="461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 can f</a:t>
            </a:r>
            <a:r>
              <a:rPr lang="en" sz="2000"/>
              <a:t>rame “Pneumonia vs. Healthy” for 2 Stages.</a:t>
            </a:r>
            <a:endParaRPr sz="2000"/>
          </a:p>
        </p:txBody>
      </p:sp>
      <p:sp>
        <p:nvSpPr>
          <p:cNvPr id="784" name="Google Shape;784;p74"/>
          <p:cNvSpPr txBox="1"/>
          <p:nvPr>
            <p:ph idx="14" type="title"/>
          </p:nvPr>
        </p:nvSpPr>
        <p:spPr>
          <a:xfrm>
            <a:off x="1483100" y="3320725"/>
            <a:ext cx="7424400" cy="461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VIRUS is the minority and bottleneck, capping F1.</a:t>
            </a:r>
            <a:endParaRPr sz="2000"/>
          </a:p>
        </p:txBody>
      </p:sp>
      <p:sp>
        <p:nvSpPr>
          <p:cNvPr id="785" name="Google Shape;785;p74"/>
          <p:cNvSpPr txBox="1"/>
          <p:nvPr>
            <p:ph idx="15" type="title"/>
          </p:nvPr>
        </p:nvSpPr>
        <p:spPr>
          <a:xfrm>
            <a:off x="1483100" y="3949375"/>
            <a:ext cx="7424400" cy="461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dataset is a big contributor.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5"/>
          <p:cNvSpPr txBox="1"/>
          <p:nvPr>
            <p:ph type="title"/>
          </p:nvPr>
        </p:nvSpPr>
        <p:spPr>
          <a:xfrm>
            <a:off x="490250" y="450150"/>
            <a:ext cx="6367800" cy="8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Demo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6"/>
          <p:cNvSpPr txBox="1"/>
          <p:nvPr>
            <p:ph type="title"/>
          </p:nvPr>
        </p:nvSpPr>
        <p:spPr>
          <a:xfrm>
            <a:off x="490250" y="450150"/>
            <a:ext cx="6367800" cy="8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Demo </a:t>
            </a:r>
            <a:r>
              <a:rPr lang="en">
                <a:solidFill>
                  <a:schemeClr val="dk1"/>
                </a:solidFill>
              </a:rPr>
              <a:t>(Backup)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96" name="Google Shape;796;p76" title="2026-06-09 00-24-56.remux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175" y="1291375"/>
            <a:ext cx="6585650" cy="36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2" name="Google Shape;802;p77"/>
          <p:cNvSpPr txBox="1"/>
          <p:nvPr>
            <p:ph type="title"/>
          </p:nvPr>
        </p:nvSpPr>
        <p:spPr>
          <a:xfrm>
            <a:off x="128500" y="0"/>
            <a:ext cx="7623300" cy="12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</a:rPr>
              <a:t>Thank You!</a:t>
            </a:r>
            <a:endParaRPr b="1">
              <a:solidFill>
                <a:schemeClr val="accent6"/>
              </a:solidFill>
            </a:endParaRPr>
          </a:p>
        </p:txBody>
      </p:sp>
      <p:pic>
        <p:nvPicPr>
          <p:cNvPr id="803" name="Google Shape;80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421" y="1665175"/>
            <a:ext cx="1831500" cy="1828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04" name="Google Shape;80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067" y="1665175"/>
            <a:ext cx="1831500" cy="1828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05" name="Google Shape;805;p77"/>
          <p:cNvPicPr preferRelativeResize="0"/>
          <p:nvPr/>
        </p:nvPicPr>
        <p:blipFill rotWithShape="1">
          <a:blip r:embed="rId5">
            <a:alphaModFix/>
          </a:blip>
          <a:srcRect b="2483" l="15411" r="1553" t="14481"/>
          <a:stretch/>
        </p:blipFill>
        <p:spPr>
          <a:xfrm>
            <a:off x="6946701" y="1665175"/>
            <a:ext cx="1831500" cy="1828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06" name="Google Shape;806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800" y="1665175"/>
            <a:ext cx="1831500" cy="182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07" name="Google Shape;807;p77"/>
          <p:cNvSpPr txBox="1"/>
          <p:nvPr/>
        </p:nvSpPr>
        <p:spPr>
          <a:xfrm>
            <a:off x="365950" y="3638275"/>
            <a:ext cx="183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/anneke-c-naseef</a:t>
            </a:r>
            <a:endParaRPr b="1">
              <a:solidFill>
                <a:schemeClr val="accent6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8" name="Google Shape;808;p77"/>
          <p:cNvSpPr txBox="1"/>
          <p:nvPr/>
        </p:nvSpPr>
        <p:spPr>
          <a:xfrm>
            <a:off x="2559425" y="3638275"/>
            <a:ext cx="183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/</a:t>
            </a:r>
            <a:r>
              <a:rPr b="1" lang="en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marcusper</a:t>
            </a:r>
            <a:endParaRPr b="1">
              <a:solidFill>
                <a:schemeClr val="accent6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9" name="Google Shape;809;p77"/>
          <p:cNvSpPr txBox="1"/>
          <p:nvPr/>
        </p:nvSpPr>
        <p:spPr>
          <a:xfrm>
            <a:off x="4752900" y="3638275"/>
            <a:ext cx="183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/ignacio-uroz</a:t>
            </a:r>
            <a:endParaRPr b="1">
              <a:solidFill>
                <a:schemeClr val="accent6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10" name="Google Shape;810;p77"/>
          <p:cNvSpPr txBox="1"/>
          <p:nvPr/>
        </p:nvSpPr>
        <p:spPr>
          <a:xfrm>
            <a:off x="6946700" y="3638275"/>
            <a:ext cx="183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/</a:t>
            </a:r>
            <a:r>
              <a:rPr b="1" lang="en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julian-sprietsma</a:t>
            </a:r>
            <a:endParaRPr b="1">
              <a:solidFill>
                <a:schemeClr val="accent6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